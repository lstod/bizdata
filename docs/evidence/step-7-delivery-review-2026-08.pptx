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Ashcombe Health Partners</c:v>
                </c:pt>
                <c:pt idx="1">
                  <c:v>Braemar Retail Corporation</c:v>
                </c:pt>
                <c:pt idx="2">
                  <c:v>Fernhollow Financial Trust</c:v>
                </c:pt>
                <c:pt idx="3">
                  <c:v>Lowmarsh Retail Partners</c:v>
                </c:pt>
                <c:pt idx="4">
                  <c:v>Merrivale Maritime Corporation</c:v>
                </c:pt>
                <c:pt idx="5">
                  <c:v>Northfield Municipal Group</c:v>
                </c:pt>
                <c:pt idx="6">
                  <c:v>Oakhaven Logistics Collective</c:v>
                </c:pt>
                <c:pt idx="7">
                  <c:v>Pentland Media Group</c:v>
                </c:pt>
                <c:pt idx="8">
                  <c:v>Quarrymoor Transit Partners</c:v>
                </c:pt>
                <c:pt idx="9">
                  <c:v>Stonebridge Energy Group</c:v>
                </c:pt>
                <c:pt idx="10">
                  <c:v>Thornbury Retail Partners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51.0</c:v>
                </c:pt>
                <c:pt idx="1">
                  <c:v>43.6</c:v>
                </c:pt>
                <c:pt idx="2">
                  <c:v>67.4</c:v>
                </c:pt>
                <c:pt idx="3">
                  <c:v>76.8</c:v>
                </c:pt>
                <c:pt idx="4">
                  <c:v>75.2</c:v>
                </c:pt>
                <c:pt idx="5">
                  <c:v>33.5</c:v>
                </c:pt>
                <c:pt idx="6">
                  <c:v>83.2</c:v>
                </c:pt>
                <c:pt idx="7">
                  <c:v>-17.6</c:v>
                </c:pt>
                <c:pt idx="8">
                  <c:v>75.0</c:v>
                </c:pt>
                <c:pt idx="9">
                  <c:v>50.6</c:v>
                </c:pt>
                <c:pt idx="10">
                  <c:v>58.3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0"/>
            <a:ext cx="110578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252B"/>
                </a:solidFill>
              </a:rPr>
              <a:t>Delivery and margin review</a:t>
            </a:r>
          </a:p>
          <a:p>
            <a:pPr>
              <a:spcAft>
                <a:spcPts val="2600"/>
              </a:spcAft>
            </a:pPr>
            <a:r>
              <a:rPr sz="1500" b="0">
                <a:solidFill>
                  <a:srgbClr val="5B6670"/>
                </a:solidFill>
              </a:rPr>
              <a:t>2026-08  ·  18 active engagements  ·  11 clients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Generated 2026-08-23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Scoring model v1.0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Run format-check-seed-42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Portfolio summary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active engagements, measured across the whole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05783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135"/>
                <a:gridCol w="3317351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This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Movement vs prior month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Active engagements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25,882.1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+2,737.7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44,390.0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Portfolio 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58.3%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Revenue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8,081,944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Cost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3,169,259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Blended 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60.8%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-2.9pp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Mean health score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83.4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-1.2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In the green 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13 of 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8348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margin is revenue less cost across the book, divided once. Fixed-price engagements take the fee as revenue; time and materials takes billable value at rate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Margin by client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across each client's active engagements, in percent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554480"/>
          <a:ext cx="1105783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623560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Lowest is Pentland Media Group at -17.6% across 1 engagement(s).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Engagements at risk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8 of 10 engagements examined in detail, of 18 active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38957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351"/>
                <a:gridCol w="1990411"/>
                <a:gridCol w="995205"/>
                <a:gridCol w="995205"/>
                <a:gridCol w="1437519"/>
                <a:gridCol w="1437519"/>
                <a:gridCol w="1216362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Engagement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Client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Concentration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Ends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8  Regulatory Reporting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Braemar Retail Corporation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131.0%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2027-05-12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9  Pricing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Northfield Municipal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124.5%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54.1%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2026-11-10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20  Inventory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Quarrymoor Transit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56.2%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75.0%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64.0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2027-04-16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22  Billing Platform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Fernhollow Financial Trust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49.8%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68.9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2027-01-25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5  Procurement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Pentland Media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65.1%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-17.6%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69.0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19  Grid Analytics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Thornbury Retail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86.9%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51.6%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25  Billing Platform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Stonebridge Energy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80.6%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15  Workforce Planning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Ashcombe Health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76.1%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94.4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2026-10-16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4960"/>
            <a:ext cx="11057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Burn above 70% is amber and above 90% is red, the same thresholds the workbook applies. Ceilings are never re-baselined, so burn above 100% stays above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Engagements flagged RED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F252B"/>
                </a:solidFill>
              </a:rPr>
              <a:t>No engagement was flagged RED this period.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Engagements meeting an examine trigger are on the previous slide with their figures. A trigger is a reason to look, not a finding.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Data quality and caveats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across the whole firm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72768"/>
          <a:ext cx="110578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0487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Record quality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Count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Time entries in the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2,774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Filed after the period closed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160  (5.8%)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No billable flag set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Redundant rows: same person, engagement, day and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46120"/>
            <a:ext cx="110578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Reporting coverage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Week of 2026-08-10: 16.7% of active engagements filed time, below the 60% coverage floor. This week is a filing artifact. It is excluded from every run rate and projection in this pack, and delivery for the week cannot be measured from the data.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Projections reported with low confidence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52B"/>
                </a:solidFill>
              </a:rPr>
              <a:t>Engagement 25: 2 of the trailing 4 readable weeks have no time logged against this engagement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Figures come from the BizData tools and are reproduced in engagement-book-2026-08.xlsx. Scoring model v1.0.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