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Ashcombe Health Partners</c:v>
                </c:pt>
                <c:pt idx="1">
                  <c:v>Braemar Retail Corporation</c:v>
                </c:pt>
                <c:pt idx="2">
                  <c:v>Fernhollow Financial Trust</c:v>
                </c:pt>
                <c:pt idx="3">
                  <c:v>Lowmarsh Retail Partners</c:v>
                </c:pt>
                <c:pt idx="4">
                  <c:v>Merrivale Maritime Corporation</c:v>
                </c:pt>
                <c:pt idx="5">
                  <c:v>Northfield Municipal Group</c:v>
                </c:pt>
                <c:pt idx="6">
                  <c:v>Oakhaven Logistics Collective</c:v>
                </c:pt>
                <c:pt idx="7">
                  <c:v>Pentland Media Group</c:v>
                </c:pt>
                <c:pt idx="8">
                  <c:v>Quarrymoor Transit Partners</c:v>
                </c:pt>
                <c:pt idx="9">
                  <c:v>Stonebridge Energy Group</c:v>
                </c:pt>
                <c:pt idx="10">
                  <c:v>Thornbury Retail Partners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51.0</c:v>
                </c:pt>
                <c:pt idx="1">
                  <c:v>43.6</c:v>
                </c:pt>
                <c:pt idx="2">
                  <c:v>67.4</c:v>
                </c:pt>
                <c:pt idx="3">
                  <c:v>76.8</c:v>
                </c:pt>
                <c:pt idx="4">
                  <c:v>75.2</c:v>
                </c:pt>
                <c:pt idx="5">
                  <c:v>33.5</c:v>
                </c:pt>
                <c:pt idx="6">
                  <c:v>83.2</c:v>
                </c:pt>
                <c:pt idx="7">
                  <c:v>-17.6</c:v>
                </c:pt>
                <c:pt idx="8">
                  <c:v>75.0</c:v>
                </c:pt>
                <c:pt idx="9">
                  <c:v>50.6</c:v>
                </c:pt>
                <c:pt idx="10">
                  <c:v>58.3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0"/>
            <a:ext cx="110578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252B"/>
                </a:solidFill>
              </a:rPr>
              <a:t>Delivery and margin review</a:t>
            </a:r>
          </a:p>
          <a:p>
            <a:pPr>
              <a:spcAft>
                <a:spcPts val="2600"/>
              </a:spcAft>
            </a:pPr>
            <a:r>
              <a:rPr sz="1500" b="0">
                <a:solidFill>
                  <a:srgbClr val="5B6670"/>
                </a:solidFill>
              </a:rPr>
              <a:t>2026-08  ·  18 active engagements  ·  11 clients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Generated 2026-08-25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Scoring model v1.0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Run delivery-review-2026-08-20260825a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Portfolio summary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2026-08, active engagements, measured across the whole 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00200"/>
          <a:ext cx="1105783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135"/>
                <a:gridCol w="3317351"/>
                <a:gridCol w="331735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This period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Movement vs prior month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Active engagements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18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+0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25,882.1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+2,737.7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44,390.0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Portfolio 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58.3%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Revenue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8,081,944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Cost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3,169,259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Blended 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60.8%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-2.9pp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Mean health score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83.4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-1.2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In the green 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13 of 18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983480"/>
            <a:ext cx="110578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Blended margin is revenue less cost across the book, divided once. Fixed-price engagements take the fee as revenue; time and materials takes billable value at rate card.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Margin by client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Blended across each client's active engagements, in percent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" y="1554480"/>
          <a:ext cx="11057839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623560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Lowest is Pentland Media Group at -17.6% across 1 engagement(s).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Engagements at risk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8 of 10 engagements examined in detail, of 18 active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00200"/>
          <a:ext cx="1138957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351"/>
                <a:gridCol w="1990411"/>
                <a:gridCol w="995205"/>
                <a:gridCol w="995205"/>
                <a:gridCol w="1437519"/>
                <a:gridCol w="1437519"/>
                <a:gridCol w="1216362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Engagement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Client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Concentration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Ends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8  Regulatory Reporting Programme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Braemar Retail Corporation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C0006"/>
                          </a:solidFill>
                        </a:rPr>
                        <a:t>131.0%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53.5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48.9%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2027-05-12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9  Pricing Modernisation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Northfield Municipal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C0006"/>
                          </a:solidFill>
                        </a:rPr>
                        <a:t>124.5%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54.1%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2026-11-10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20  Inventory Implementation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Quarrymoor Transit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56.2%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75.0%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64.0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2027-04-16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22  Billing Platform Assessment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Fernhollow Financial Trust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58.9%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49.8%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68.9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2027-01-25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5  Procurement Modernisation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Pentland Media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65.1%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-17.6%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69.0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19  Grid Analytics Assessment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Thornbury Retail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86.9%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51.6%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76.6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25  Billing Platform Implementation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Stonebridge Energy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80.6%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76.6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2026-10-25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15  Workforce Planning Programme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Ashcombe Health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76.1%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94.4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2026-10-16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4960"/>
            <a:ext cx="110578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Burn above 70% is amber and above 90% is red, the same thresholds the workbook applies. Ceilings are never re-baselined, so burn above 100% stays above 100%.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RED · Regulatory Reporting Programme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Engagement 8  ·  Braemar Retail Corporation  · 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Situation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52B"/>
                </a:solidFill>
              </a:rPr>
              <a:t>Projected overrun is 145.4% against a ceiling of 1,020.0 hours, at high projection confidence. Burn is 131.0% of a 1,020.0 hour ceiling with 254 of 542 contract days remaining.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788920"/>
          <a:ext cx="1105783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131.0%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24.7%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1,336.4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1,020.0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remaining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-316.4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Projected overrun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145.4%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80560"/>
            <a:ext cx="110578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Cause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Not determinable from available data. Hours to date are 316.4 above the ceiling and the 4-week run rate of 32.15 h/wk is 1.7% below this engagement's own baseline, so the overrun predates the period rather than arising from acceleration in it.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Recommended action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Scope conversation with Braemar Retail Corporation before further delivery: 254 contract days remain against a ceiling already exceeded. The engagement lead decides whether to seek a change order, stop work at the ceiling, or absorb the overrun on this fixed-fee SOW.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Decision owner: engagement lead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RED · Pricing Modernisation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Engagement 9  ·  Northfield Municipal Group  · 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Situation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52B"/>
                </a:solidFill>
              </a:rPr>
              <a:t>Projected overrun is 78.8% against a ceiling of 780.0 hours, at high projection confidence. Burn is 124.5% of a 780.0 hour ceiling with 71 of 291 contract days remaining.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788920"/>
          <a:ext cx="1105783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124.5%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33.5%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971.2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780.0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remaining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-191.2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Projected overrun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78.8%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80560"/>
            <a:ext cx="110578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Cause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Not determinable from available data. Hours to date are 191.2 above the ceiling; the 4-week run rate of 41.73 h/wk is 12.5% above this engagement's baseline of 37.08 h/wk.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Recommended action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Scope conversation with Northfield Municipal Group: 71 contract days remain against a ceiling already exceeded, and the projection at the current run rate is 1,394.4 hours against 780. The engagement lead decides between a change order and a stop-at-ceiling instruction to the 2 people delivering.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Decision owner: engagement lead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RED · Inventory Implementation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Engagement 20  ·  Quarrymoor Transit Partners  · 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Situation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52B"/>
                </a:solidFill>
              </a:rPr>
              <a:t>Projected overrun is 30.8% against a ceiling of 4,840.0 hours, at high projection confidence.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788920"/>
          <a:ext cx="1105783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56.2%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75.0%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2,720.7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4,840.0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remaining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2,119.3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Projected overrun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30.8%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64.0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80560"/>
            <a:ext cx="110578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Cause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The 4-week run rate of 110.78 h/wk is 17.8% above this engagement's baseline of 94.00 h/wk. Burn is 56.2% and 2,119.3 ceiling hours remain, so the projected overrun is driven by run rate over the 228 remaining contract days rather than by hours already spent.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Recommended action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Engagement lead to confirm with Quarrymoor Transit Partners whether the current staffing level is intended to hold to 2027-04-16. If it is, a change order is needed on SOW-2025-020; if not, the run rate is the thing to decide on, not the ceiling.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Decision owner: engagement lead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Data quality and caveats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2026-08, across the whole firm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72768"/>
          <a:ext cx="110578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0487"/>
                <a:gridCol w="331735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Record quality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Count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Time entries in the period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2,774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Filed after the period closed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160  (5.8%)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No billable flag set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Redundant rows: same person, engagement, day and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46120"/>
            <a:ext cx="110578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Reporting coverage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Week of 2026-08-10: 16.7% of active engagements filed time, below the 60% coverage floor. This week is a filing artifact. It is excluded from every run rate and projection in this pack, and delivery for the week cannot be measured from the data.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Projections reported with low confidence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52B"/>
                </a:solidFill>
              </a:rPr>
              <a:t>Engagement 25: 2 of the trailing 4 readable weeks have no time logged against this engagement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Figures come from the BizData tools and are reproduced in engagement-book-2026-08.xlsx. Scoring model v1.0.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