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Margin %</c:v>
                </c:pt>
              </c:strCache>
            </c:strRef>
          </c:tx>
          <c:cat>
            <c:strRef>
              <c:f>Sheet1!$A$2:$A$12</c:f>
              <c:strCache>
                <c:ptCount val="11"/>
                <c:pt idx="0">
                  <c:v>Ashcombe Health Partners</c:v>
                </c:pt>
                <c:pt idx="1">
                  <c:v>Braemar Retail Corporation</c:v>
                </c:pt>
                <c:pt idx="2">
                  <c:v>Fernhollow Financial Trust</c:v>
                </c:pt>
                <c:pt idx="3">
                  <c:v>Lowmarsh Retail Partners</c:v>
                </c:pt>
                <c:pt idx="4">
                  <c:v>Merrivale Maritime Corporation</c:v>
                </c:pt>
                <c:pt idx="5">
                  <c:v>Northfield Municipal Group</c:v>
                </c:pt>
                <c:pt idx="6">
                  <c:v>Oakhaven Logistics Collective</c:v>
                </c:pt>
                <c:pt idx="7">
                  <c:v>Pentland Media Group</c:v>
                </c:pt>
                <c:pt idx="8">
                  <c:v>Quarrymoor Transit Partners</c:v>
                </c:pt>
                <c:pt idx="9">
                  <c:v>Stonebridge Energy Group</c:v>
                </c:pt>
                <c:pt idx="10">
                  <c:v>Thornbury Retail Partners</c:v>
                </c:pt>
              </c:strCache>
            </c:strRef>
          </c:cat>
          <c:val>
            <c:numRef>
              <c:f>Sheet1!$B$2:$B$12</c:f>
              <c:numCache>
                <c:formatCode>General</c:formatCode>
                <c:ptCount val="11"/>
                <c:pt idx="0">
                  <c:v>51.0</c:v>
                </c:pt>
                <c:pt idx="1">
                  <c:v>43.6</c:v>
                </c:pt>
                <c:pt idx="2">
                  <c:v>67.4</c:v>
                </c:pt>
                <c:pt idx="3">
                  <c:v>76.8</c:v>
                </c:pt>
                <c:pt idx="4">
                  <c:v>75.2</c:v>
                </c:pt>
                <c:pt idx="5">
                  <c:v>33.5</c:v>
                </c:pt>
                <c:pt idx="6">
                  <c:v>83.2</c:v>
                </c:pt>
                <c:pt idx="7">
                  <c:v>-17.6</c:v>
                </c:pt>
                <c:pt idx="8">
                  <c:v>75.0</c:v>
                </c:pt>
                <c:pt idx="9">
                  <c:v>50.6</c:v>
                </c:pt>
                <c:pt idx="10">
                  <c:v>58.3</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05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7839" cy="2194560"/>
          </a:xfrm>
          <a:prstGeom prst="rect">
            <a:avLst/>
          </a:prstGeom>
          <a:noFill/>
        </p:spPr>
        <p:txBody>
          <a:bodyPr wrap="square">
            <a:spAutoFit/>
          </a:bodyPr>
          <a:lstStyle/>
          <a:p>
            <a:pPr>
              <a:spcAft>
                <a:spcPts val="1000"/>
              </a:spcAft>
            </a:pPr>
            <a:r>
              <a:rPr sz="3000" b="1">
                <a:solidFill>
                  <a:srgbClr val="1F252B"/>
                </a:solidFill>
              </a:rPr>
              <a:t>Delivery and margin review</a:t>
            </a:r>
          </a:p>
          <a:p>
            <a:pPr>
              <a:spcAft>
                <a:spcPts val="2600"/>
              </a:spcAft>
            </a:pPr>
            <a:r>
              <a:rPr sz="1500" b="0">
                <a:solidFill>
                  <a:srgbClr val="5B6670"/>
                </a:solidFill>
              </a:rPr>
              <a:t>2026-08  ·  18 active engagements  ·  11 clients</a:t>
            </a:r>
          </a:p>
          <a:p>
            <a:pPr>
              <a:spcAft>
                <a:spcPts val="400"/>
              </a:spcAft>
            </a:pPr>
            <a:r>
              <a:rPr sz="1050" b="0">
                <a:solidFill>
                  <a:srgbClr val="5B6670"/>
                </a:solidFill>
              </a:rPr>
              <a:t>Generated 2026-08-27</a:t>
            </a:r>
          </a:p>
          <a:p>
            <a:pPr>
              <a:spcAft>
                <a:spcPts val="400"/>
              </a:spcAft>
            </a:pPr>
            <a:r>
              <a:rPr sz="1050" b="0">
                <a:solidFill>
                  <a:srgbClr val="5B6670"/>
                </a:solidFill>
              </a:rPr>
              <a:t>Scoring model v1.0</a:t>
            </a:r>
          </a:p>
          <a:p>
            <a:pPr>
              <a:spcAft>
                <a:spcPts val="400"/>
              </a:spcAft>
            </a:pPr>
            <a:r>
              <a:rPr sz="1050" b="0">
                <a:solidFill>
                  <a:srgbClr val="5B6670"/>
                </a:solidFill>
              </a:rPr>
              <a:t>Run delivery-review-2026-08-r1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57839" cy="731520"/>
          </a:xfrm>
          <a:prstGeom prst="rect">
            <a:avLst/>
          </a:prstGeom>
          <a:noFill/>
        </p:spPr>
        <p:txBody>
          <a:bodyPr wrap="square">
            <a:spAutoFit/>
          </a:bodyPr>
          <a:lstStyle/>
          <a:p>
            <a:pPr>
              <a:spcAft>
                <a:spcPts val="400"/>
              </a:spcAft>
            </a:pPr>
            <a:r>
              <a:rPr sz="2200" b="1">
                <a:solidFill>
                  <a:srgbClr val="1F252B"/>
                </a:solidFill>
              </a:rPr>
              <a:t>Portfolio summary</a:t>
            </a:r>
          </a:p>
          <a:p>
            <a:pPr>
              <a:spcAft>
                <a:spcPts val="400"/>
              </a:spcAft>
            </a:pPr>
            <a:r>
              <a:rPr sz="1050" b="0">
                <a:solidFill>
                  <a:srgbClr val="5B6670"/>
                </a:solidFill>
              </a:rPr>
              <a:t>2026-08, active engagements, measured across the whole book</a:t>
            </a:r>
          </a:p>
        </p:txBody>
      </p:sp>
      <p:sp>
        <p:nvSpPr>
          <p:cNvPr id="3" name="Rectangle 2"/>
          <p:cNvSpPr/>
          <p:nvPr/>
        </p:nvSpPr>
        <p:spPr>
          <a:xfrm>
            <a:off x="566928" y="1298448"/>
            <a:ext cx="11057839" cy="9525"/>
          </a:xfrm>
          <a:prstGeom prst="rect">
            <a:avLst/>
          </a:prstGeom>
          <a:solidFill>
            <a:srgbClr val="D5D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600200"/>
          <a:ext cx="11057837" cy="2926080"/>
        </p:xfrm>
        <a:graphic>
          <a:graphicData uri="http://schemas.openxmlformats.org/drawingml/2006/table">
            <a:tbl>
              <a:tblPr firstRow="1" bandRow="1">
                <a:tableStyleId>{5C22544A-7EE6-4342-B048-85BDC9FD1C3A}</a:tableStyleId>
              </a:tblPr>
              <a:tblGrid>
                <a:gridCol w="4423135"/>
                <a:gridCol w="3317351"/>
                <a:gridCol w="3317351"/>
              </a:tblGrid>
              <a:tr h="292608">
                <a:tc>
                  <a:txBody>
                    <a:bodyPr/>
                    <a:lstStyle/>
                    <a:p>
                      <a:pPr algn="l"/>
                      <a:r>
                        <a:rPr sz="1050" b="1">
                          <a:solidFill>
                            <a:srgbClr val="1F252B"/>
                          </a:solidFill>
                        </a:rPr>
                        <a:t/>
                      </a:r>
                    </a:p>
                  </a:txBody>
                  <a:tcPr marL="54864" marR="54864" marT="18288" marB="18288"/>
                </a:tc>
                <a:tc>
                  <a:txBody>
                    <a:bodyPr/>
                    <a:lstStyle/>
                    <a:p>
                      <a:pPr algn="l"/>
                      <a:r>
                        <a:rPr sz="1050" b="1">
                          <a:solidFill>
                            <a:srgbClr val="1F252B"/>
                          </a:solidFill>
                        </a:rPr>
                        <a:t>This period</a:t>
                      </a:r>
                    </a:p>
                  </a:txBody>
                  <a:tcPr marL="54864" marR="54864" marT="18288" marB="18288"/>
                </a:tc>
                <a:tc>
                  <a:txBody>
                    <a:bodyPr/>
                    <a:lstStyle/>
                    <a:p>
                      <a:pPr algn="l"/>
                      <a:r>
                        <a:rPr sz="1050" b="1">
                          <a:solidFill>
                            <a:srgbClr val="1F252B"/>
                          </a:solidFill>
                        </a:rPr>
                        <a:t>Movement vs prior month</a:t>
                      </a:r>
                    </a:p>
                  </a:txBody>
                  <a:tcPr marL="54864" marR="54864" marT="18288" marB="18288"/>
                </a:tc>
              </a:tr>
              <a:tr h="292608">
                <a:tc>
                  <a:txBody>
                    <a:bodyPr/>
                    <a:lstStyle/>
                    <a:p>
                      <a:pPr algn="l"/>
                      <a:r>
                        <a:rPr sz="1050" b="0">
                          <a:solidFill>
                            <a:srgbClr val="5B6670"/>
                          </a:solidFill>
                        </a:rPr>
                        <a:t>Active engagements</a:t>
                      </a:r>
                    </a:p>
                  </a:txBody>
                  <a:tcPr marL="54864" marR="54864" marT="18288" marB="18288"/>
                </a:tc>
                <a:tc>
                  <a:txBody>
                    <a:bodyPr/>
                    <a:lstStyle/>
                    <a:p>
                      <a:pPr algn="r"/>
                      <a:r>
                        <a:rPr sz="1050" b="0">
                          <a:solidFill>
                            <a:srgbClr val="5B6670"/>
                          </a:solidFill>
                        </a:rPr>
                        <a:t>18</a:t>
                      </a:r>
                    </a:p>
                  </a:txBody>
                  <a:tcPr marL="54864" marR="54864" marT="18288" marB="18288"/>
                </a:tc>
                <a:tc>
                  <a:txBody>
                    <a:bodyPr/>
                    <a:lstStyle/>
                    <a:p>
                      <a:pPr algn="r"/>
                      <a:r>
                        <a:rPr sz="1050" b="0">
                          <a:solidFill>
                            <a:srgbClr val="5B6670"/>
                          </a:solidFill>
                        </a:rPr>
                        <a:t>+0</a:t>
                      </a:r>
                    </a:p>
                  </a:txBody>
                  <a:tcPr marL="54864" marR="54864" marT="18288" marB="18288"/>
                </a:tc>
              </a:tr>
              <a:tr h="292608">
                <a:tc>
                  <a:txBody>
                    <a:bodyPr/>
                    <a:lstStyle/>
                    <a:p>
                      <a:pPr algn="l"/>
                      <a:r>
                        <a:rPr sz="1050" b="0">
                          <a:solidFill>
                            <a:srgbClr val="5B6670"/>
                          </a:solidFill>
                        </a:rPr>
                        <a:t>Hours to date</a:t>
                      </a:r>
                    </a:p>
                  </a:txBody>
                  <a:tcPr marL="54864" marR="54864" marT="18288" marB="18288"/>
                </a:tc>
                <a:tc>
                  <a:txBody>
                    <a:bodyPr/>
                    <a:lstStyle/>
                    <a:p>
                      <a:pPr algn="r"/>
                      <a:r>
                        <a:rPr sz="1050" b="0">
                          <a:solidFill>
                            <a:srgbClr val="5B6670"/>
                          </a:solidFill>
                        </a:rPr>
                        <a:t>25,885.8</a:t>
                      </a:r>
                    </a:p>
                  </a:txBody>
                  <a:tcPr marL="54864" marR="54864" marT="18288" marB="18288"/>
                </a:tc>
                <a:tc>
                  <a:txBody>
                    <a:bodyPr/>
                    <a:lstStyle/>
                    <a:p>
                      <a:pPr algn="r"/>
                      <a:r>
                        <a:rPr sz="1050" b="0">
                          <a:solidFill>
                            <a:srgbClr val="5B6670"/>
                          </a:solidFill>
                        </a:rPr>
                        <a:t>+2,737.7</a:t>
                      </a:r>
                    </a:p>
                  </a:txBody>
                  <a:tcPr marL="54864" marR="54864" marT="18288" marB="18288"/>
                </a:tc>
              </a:tr>
              <a:tr h="292608">
                <a:tc>
                  <a:txBody>
                    <a:bodyPr/>
                    <a:lstStyle/>
                    <a:p>
                      <a:pPr algn="l"/>
                      <a:r>
                        <a:rPr sz="1050" b="0">
                          <a:solidFill>
                            <a:srgbClr val="5B6670"/>
                          </a:solidFill>
                        </a:rPr>
                        <a:t>Ceiling hours</a:t>
                      </a:r>
                    </a:p>
                  </a:txBody>
                  <a:tcPr marL="54864" marR="54864" marT="18288" marB="18288"/>
                </a:tc>
                <a:tc>
                  <a:txBody>
                    <a:bodyPr/>
                    <a:lstStyle/>
                    <a:p>
                      <a:pPr algn="r"/>
                      <a:r>
                        <a:rPr sz="1050" b="0">
                          <a:solidFill>
                            <a:srgbClr val="5B6670"/>
                          </a:solidFill>
                        </a:rPr>
                        <a:t>44,390.0</a:t>
                      </a:r>
                    </a:p>
                  </a:txBody>
                  <a:tcPr marL="54864" marR="54864" marT="18288" marB="18288"/>
                </a:tc>
                <a:tc>
                  <a:txBody>
                    <a:bodyPr/>
                    <a:lstStyle/>
                    <a:p>
                      <a:pPr algn="r"/>
                      <a:r>
                        <a:rPr sz="1050" b="0">
                          <a:solidFill>
                            <a:srgbClr val="5B6670"/>
                          </a:solidFill>
                        </a:rPr>
                        <a:t/>
                      </a:r>
                    </a:p>
                  </a:txBody>
                  <a:tcPr marL="54864" marR="54864" marT="18288" marB="18288"/>
                </a:tc>
              </a:tr>
              <a:tr h="292608">
                <a:tc>
                  <a:txBody>
                    <a:bodyPr/>
                    <a:lstStyle/>
                    <a:p>
                      <a:pPr algn="l"/>
                      <a:r>
                        <a:rPr sz="1050" b="0">
                          <a:solidFill>
                            <a:srgbClr val="5B6670"/>
                          </a:solidFill>
                        </a:rPr>
                        <a:t>Portfolio burn</a:t>
                      </a:r>
                    </a:p>
                  </a:txBody>
                  <a:tcPr marL="54864" marR="54864" marT="18288" marB="18288"/>
                </a:tc>
                <a:tc>
                  <a:txBody>
                    <a:bodyPr/>
                    <a:lstStyle/>
                    <a:p>
                      <a:pPr algn="r"/>
                      <a:r>
                        <a:rPr sz="1050" b="0">
                          <a:solidFill>
                            <a:srgbClr val="5B6670"/>
                          </a:solidFill>
                        </a:rPr>
                        <a:t>58.3%</a:t>
                      </a:r>
                    </a:p>
                  </a:txBody>
                  <a:tcPr marL="54864" marR="54864" marT="18288" marB="18288"/>
                </a:tc>
                <a:tc>
                  <a:txBody>
                    <a:bodyPr/>
                    <a:lstStyle/>
                    <a:p>
                      <a:pPr algn="r"/>
                      <a:r>
                        <a:rPr sz="1050" b="0">
                          <a:solidFill>
                            <a:srgbClr val="5B6670"/>
                          </a:solidFill>
                        </a:rPr>
                        <a:t/>
                      </a:r>
                    </a:p>
                  </a:txBody>
                  <a:tcPr marL="54864" marR="54864" marT="18288" marB="18288"/>
                </a:tc>
              </a:tr>
              <a:tr h="292608">
                <a:tc>
                  <a:txBody>
                    <a:bodyPr/>
                    <a:lstStyle/>
                    <a:p>
                      <a:pPr algn="l"/>
                      <a:r>
                        <a:rPr sz="1050" b="0">
                          <a:solidFill>
                            <a:srgbClr val="5B6670"/>
                          </a:solidFill>
                        </a:rPr>
                        <a:t>Revenue to date</a:t>
                      </a:r>
                    </a:p>
                  </a:txBody>
                  <a:tcPr marL="54864" marR="54864" marT="18288" marB="18288"/>
                </a:tc>
                <a:tc>
                  <a:txBody>
                    <a:bodyPr/>
                    <a:lstStyle/>
                    <a:p>
                      <a:pPr algn="r"/>
                      <a:r>
                        <a:rPr sz="1050" b="0">
                          <a:solidFill>
                            <a:srgbClr val="5B6670"/>
                          </a:solidFill>
                        </a:rPr>
                        <a:t>8,082,306</a:t>
                      </a:r>
                    </a:p>
                  </a:txBody>
                  <a:tcPr marL="54864" marR="54864" marT="18288" marB="18288"/>
                </a:tc>
                <a:tc>
                  <a:txBody>
                    <a:bodyPr/>
                    <a:lstStyle/>
                    <a:p>
                      <a:pPr algn="r"/>
                      <a:r>
                        <a:rPr sz="1050" b="0">
                          <a:solidFill>
                            <a:srgbClr val="5B6670"/>
                          </a:solidFill>
                        </a:rPr>
                        <a:t/>
                      </a:r>
                    </a:p>
                  </a:txBody>
                  <a:tcPr marL="54864" marR="54864" marT="18288" marB="18288"/>
                </a:tc>
              </a:tr>
              <a:tr h="292608">
                <a:tc>
                  <a:txBody>
                    <a:bodyPr/>
                    <a:lstStyle/>
                    <a:p>
                      <a:pPr algn="l"/>
                      <a:r>
                        <a:rPr sz="1050" b="0">
                          <a:solidFill>
                            <a:srgbClr val="5B6670"/>
                          </a:solidFill>
                        </a:rPr>
                        <a:t>Cost to date</a:t>
                      </a:r>
                    </a:p>
                  </a:txBody>
                  <a:tcPr marL="54864" marR="54864" marT="18288" marB="18288"/>
                </a:tc>
                <a:tc>
                  <a:txBody>
                    <a:bodyPr/>
                    <a:lstStyle/>
                    <a:p>
                      <a:pPr algn="r"/>
                      <a:r>
                        <a:rPr sz="1050" b="0">
                          <a:solidFill>
                            <a:srgbClr val="5B6670"/>
                          </a:solidFill>
                        </a:rPr>
                        <a:t>3,169,576</a:t>
                      </a:r>
                    </a:p>
                  </a:txBody>
                  <a:tcPr marL="54864" marR="54864" marT="18288" marB="18288"/>
                </a:tc>
                <a:tc>
                  <a:txBody>
                    <a:bodyPr/>
                    <a:lstStyle/>
                    <a:p>
                      <a:pPr algn="r"/>
                      <a:r>
                        <a:rPr sz="1050" b="0">
                          <a:solidFill>
                            <a:srgbClr val="5B6670"/>
                          </a:solidFill>
                        </a:rPr>
                        <a:t/>
                      </a:r>
                    </a:p>
                  </a:txBody>
                  <a:tcPr marL="54864" marR="54864" marT="18288" marB="18288"/>
                </a:tc>
              </a:tr>
              <a:tr h="292608">
                <a:tc>
                  <a:txBody>
                    <a:bodyPr/>
                    <a:lstStyle/>
                    <a:p>
                      <a:pPr algn="l"/>
                      <a:r>
                        <a:rPr sz="1050" b="0">
                          <a:solidFill>
                            <a:srgbClr val="5B6670"/>
                          </a:solidFill>
                        </a:rPr>
                        <a:t>Blended margin</a:t>
                      </a:r>
                    </a:p>
                  </a:txBody>
                  <a:tcPr marL="54864" marR="54864" marT="18288" marB="18288"/>
                </a:tc>
                <a:tc>
                  <a:txBody>
                    <a:bodyPr/>
                    <a:lstStyle/>
                    <a:p>
                      <a:pPr algn="r"/>
                      <a:r>
                        <a:rPr sz="1050" b="0">
                          <a:solidFill>
                            <a:srgbClr val="5B6670"/>
                          </a:solidFill>
                        </a:rPr>
                        <a:t>60.8%</a:t>
                      </a:r>
                    </a:p>
                  </a:txBody>
                  <a:tcPr marL="54864" marR="54864" marT="18288" marB="18288"/>
                </a:tc>
                <a:tc>
                  <a:txBody>
                    <a:bodyPr/>
                    <a:lstStyle/>
                    <a:p>
                      <a:pPr algn="r"/>
                      <a:r>
                        <a:rPr sz="1050" b="0">
                          <a:solidFill>
                            <a:srgbClr val="5B6670"/>
                          </a:solidFill>
                        </a:rPr>
                        <a:t>-2.9pp</a:t>
                      </a:r>
                    </a:p>
                  </a:txBody>
                  <a:tcPr marL="54864" marR="54864" marT="18288" marB="18288"/>
                </a:tc>
              </a:tr>
              <a:tr h="292608">
                <a:tc>
                  <a:txBody>
                    <a:bodyPr/>
                    <a:lstStyle/>
                    <a:p>
                      <a:pPr algn="l"/>
                      <a:r>
                        <a:rPr sz="1050" b="0">
                          <a:solidFill>
                            <a:srgbClr val="5B6670"/>
                          </a:solidFill>
                        </a:rPr>
                        <a:t>Mean health score</a:t>
                      </a:r>
                    </a:p>
                  </a:txBody>
                  <a:tcPr marL="54864" marR="54864" marT="18288" marB="18288"/>
                </a:tc>
                <a:tc>
                  <a:txBody>
                    <a:bodyPr/>
                    <a:lstStyle/>
                    <a:p>
                      <a:pPr algn="r"/>
                      <a:r>
                        <a:rPr sz="1050" b="0">
                          <a:solidFill>
                            <a:srgbClr val="5B6670"/>
                          </a:solidFill>
                        </a:rPr>
                        <a:t>83.4</a:t>
                      </a:r>
                    </a:p>
                  </a:txBody>
                  <a:tcPr marL="54864" marR="54864" marT="18288" marB="18288"/>
                </a:tc>
                <a:tc>
                  <a:txBody>
                    <a:bodyPr/>
                    <a:lstStyle/>
                    <a:p>
                      <a:pPr algn="r"/>
                      <a:r>
                        <a:rPr sz="1050" b="0">
                          <a:solidFill>
                            <a:srgbClr val="5B6670"/>
                          </a:solidFill>
                        </a:rPr>
                        <a:t>-1.3</a:t>
                      </a:r>
                    </a:p>
                  </a:txBody>
                  <a:tcPr marL="54864" marR="54864" marT="18288" marB="18288"/>
                </a:tc>
              </a:tr>
              <a:tr h="292608">
                <a:tc>
                  <a:txBody>
                    <a:bodyPr/>
                    <a:lstStyle/>
                    <a:p>
                      <a:pPr algn="l"/>
                      <a:r>
                        <a:rPr sz="1050" b="0">
                          <a:solidFill>
                            <a:srgbClr val="5B6670"/>
                          </a:solidFill>
                        </a:rPr>
                        <a:t>In the green band</a:t>
                      </a:r>
                    </a:p>
                  </a:txBody>
                  <a:tcPr marL="54864" marR="54864" marT="18288" marB="18288"/>
                </a:tc>
                <a:tc>
                  <a:txBody>
                    <a:bodyPr/>
                    <a:lstStyle/>
                    <a:p>
                      <a:pPr algn="r"/>
                      <a:r>
                        <a:rPr sz="1050" b="0">
                          <a:solidFill>
                            <a:srgbClr val="5B6670"/>
                          </a:solidFill>
                        </a:rPr>
                        <a:t>13 of 18</a:t>
                      </a:r>
                    </a:p>
                  </a:txBody>
                  <a:tcPr marL="54864" marR="54864" marT="18288" marB="18288"/>
                </a:tc>
                <a:tc>
                  <a:txBody>
                    <a:bodyPr/>
                    <a:lstStyle/>
                    <a:p>
                      <a:pPr algn="r"/>
                      <a:r>
                        <a:rPr sz="1050" b="0">
                          <a:solidFill>
                            <a:srgbClr val="5B6670"/>
                          </a:solidFill>
                        </a:rPr>
                        <a:t/>
                      </a:r>
                    </a:p>
                  </a:txBody>
                  <a:tcPr marL="54864" marR="54864" marT="18288" marB="18288"/>
                </a:tc>
              </a:tr>
            </a:tbl>
          </a:graphicData>
        </a:graphic>
      </p:graphicFrame>
      <p:sp>
        <p:nvSpPr>
          <p:cNvPr id="5" name="TextBox 4"/>
          <p:cNvSpPr txBox="1"/>
          <p:nvPr/>
        </p:nvSpPr>
        <p:spPr>
          <a:xfrm>
            <a:off x="566928" y="4983480"/>
            <a:ext cx="11057839" cy="1097280"/>
          </a:xfrm>
          <a:prstGeom prst="rect">
            <a:avLst/>
          </a:prstGeom>
          <a:noFill/>
        </p:spPr>
        <p:txBody>
          <a:bodyPr wrap="square">
            <a:spAutoFit/>
          </a:bodyPr>
          <a:lstStyle/>
          <a:p>
            <a:pPr>
              <a:spcAft>
                <a:spcPts val="400"/>
              </a:spcAft>
            </a:pPr>
            <a:r>
              <a:rPr sz="1050" b="0">
                <a:solidFill>
                  <a:srgbClr val="5B6670"/>
                </a:solidFill>
              </a:rPr>
              <a:t>Blended margin is revenue less cost across the book, divided once. Fixed-price engagements take the fee as revenue; time and materials takes billable value at rate card.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57839" cy="731520"/>
          </a:xfrm>
          <a:prstGeom prst="rect">
            <a:avLst/>
          </a:prstGeom>
          <a:noFill/>
        </p:spPr>
        <p:txBody>
          <a:bodyPr wrap="square">
            <a:spAutoFit/>
          </a:bodyPr>
          <a:lstStyle/>
          <a:p>
            <a:pPr>
              <a:spcAft>
                <a:spcPts val="400"/>
              </a:spcAft>
            </a:pPr>
            <a:r>
              <a:rPr sz="2200" b="1">
                <a:solidFill>
                  <a:srgbClr val="1F252B"/>
                </a:solidFill>
              </a:rPr>
              <a:t>Margin by client</a:t>
            </a:r>
          </a:p>
          <a:p>
            <a:pPr>
              <a:spcAft>
                <a:spcPts val="400"/>
              </a:spcAft>
            </a:pPr>
            <a:r>
              <a:rPr sz="1050" b="0">
                <a:solidFill>
                  <a:srgbClr val="5B6670"/>
                </a:solidFill>
              </a:rPr>
              <a:t>Blended across each client's active engagements, in percent</a:t>
            </a:r>
          </a:p>
        </p:txBody>
      </p:sp>
      <p:sp>
        <p:nvSpPr>
          <p:cNvPr id="3" name="Rectangle 2"/>
          <p:cNvSpPr/>
          <p:nvPr/>
        </p:nvSpPr>
        <p:spPr>
          <a:xfrm>
            <a:off x="566928" y="1298448"/>
            <a:ext cx="11057839" cy="9525"/>
          </a:xfrm>
          <a:prstGeom prst="rect">
            <a:avLst/>
          </a:prstGeom>
          <a:solidFill>
            <a:srgbClr val="D5D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hart 3"/>
          <p:cNvGraphicFramePr>
            <a:graphicFrameLocks noGrp="1"/>
          </p:cNvGraphicFramePr>
          <p:nvPr/>
        </p:nvGraphicFramePr>
        <p:xfrm>
          <a:off x="566928" y="1554480"/>
          <a:ext cx="11057839" cy="3931920"/>
        </p:xfrm>
        <a:graphic>
          <a:graphicData uri="http://schemas.openxmlformats.org/drawingml/2006/chart">
            <c:chart xmlns:c="http://schemas.openxmlformats.org/drawingml/2006/chart" r:id="rId2"/>
          </a:graphicData>
        </a:graphic>
      </p:graphicFrame>
      <p:sp>
        <p:nvSpPr>
          <p:cNvPr id="5" name="TextBox 4"/>
          <p:cNvSpPr txBox="1"/>
          <p:nvPr/>
        </p:nvSpPr>
        <p:spPr>
          <a:xfrm>
            <a:off x="566928" y="5623560"/>
            <a:ext cx="11057839" cy="822960"/>
          </a:xfrm>
          <a:prstGeom prst="rect">
            <a:avLst/>
          </a:prstGeom>
          <a:noFill/>
        </p:spPr>
        <p:txBody>
          <a:bodyPr wrap="square">
            <a:spAutoFit/>
          </a:bodyPr>
          <a:lstStyle/>
          <a:p>
            <a:pPr>
              <a:spcAft>
                <a:spcPts val="400"/>
              </a:spcAft>
            </a:pPr>
            <a:r>
              <a:rPr sz="1050" b="0">
                <a:solidFill>
                  <a:srgbClr val="5B6670"/>
                </a:solidFill>
              </a:rPr>
              <a:t>Lowest is Pentland Media Group at -17.6% across 1 engagement(s).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57839" cy="731520"/>
          </a:xfrm>
          <a:prstGeom prst="rect">
            <a:avLst/>
          </a:prstGeom>
          <a:noFill/>
        </p:spPr>
        <p:txBody>
          <a:bodyPr wrap="square">
            <a:spAutoFit/>
          </a:bodyPr>
          <a:lstStyle/>
          <a:p>
            <a:pPr>
              <a:spcAft>
                <a:spcPts val="400"/>
              </a:spcAft>
            </a:pPr>
            <a:r>
              <a:rPr sz="2200" b="1">
                <a:solidFill>
                  <a:srgbClr val="1F252B"/>
                </a:solidFill>
              </a:rPr>
              <a:t>Engagements at risk</a:t>
            </a:r>
          </a:p>
          <a:p>
            <a:pPr>
              <a:spcAft>
                <a:spcPts val="400"/>
              </a:spcAft>
            </a:pPr>
            <a:r>
              <a:rPr sz="1050" b="0">
                <a:solidFill>
                  <a:srgbClr val="5B6670"/>
                </a:solidFill>
              </a:rPr>
              <a:t>8 of 10 engagements examined in detail, of 18 active</a:t>
            </a:r>
          </a:p>
        </p:txBody>
      </p:sp>
      <p:sp>
        <p:nvSpPr>
          <p:cNvPr id="3" name="Rectangle 2"/>
          <p:cNvSpPr/>
          <p:nvPr/>
        </p:nvSpPr>
        <p:spPr>
          <a:xfrm>
            <a:off x="566928" y="1298448"/>
            <a:ext cx="11057839" cy="9525"/>
          </a:xfrm>
          <a:prstGeom prst="rect">
            <a:avLst/>
          </a:prstGeom>
          <a:solidFill>
            <a:srgbClr val="D5D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600200"/>
          <a:ext cx="11389572" cy="2633472"/>
        </p:xfrm>
        <a:graphic>
          <a:graphicData uri="http://schemas.openxmlformats.org/drawingml/2006/table">
            <a:tbl>
              <a:tblPr firstRow="1" bandRow="1">
                <a:tableStyleId>{5C22544A-7EE6-4342-B048-85BDC9FD1C3A}</a:tableStyleId>
              </a:tblPr>
              <a:tblGrid>
                <a:gridCol w="3317351"/>
                <a:gridCol w="1990411"/>
                <a:gridCol w="995205"/>
                <a:gridCol w="995205"/>
                <a:gridCol w="1437519"/>
                <a:gridCol w="1437519"/>
                <a:gridCol w="1216362"/>
              </a:tblGrid>
              <a:tr h="292608">
                <a:tc>
                  <a:txBody>
                    <a:bodyPr/>
                    <a:lstStyle/>
                    <a:p>
                      <a:pPr algn="l"/>
                      <a:r>
                        <a:rPr sz="1050" b="1">
                          <a:solidFill>
                            <a:srgbClr val="1F252B"/>
                          </a:solidFill>
                        </a:rPr>
                        <a:t>Engagement</a:t>
                      </a:r>
                    </a:p>
                  </a:txBody>
                  <a:tcPr marL="54864" marR="54864" marT="18288" marB="18288"/>
                </a:tc>
                <a:tc>
                  <a:txBody>
                    <a:bodyPr/>
                    <a:lstStyle/>
                    <a:p>
                      <a:pPr algn="l"/>
                      <a:r>
                        <a:rPr sz="1050" b="1">
                          <a:solidFill>
                            <a:srgbClr val="1F252B"/>
                          </a:solidFill>
                        </a:rPr>
                        <a:t>Client</a:t>
                      </a:r>
                    </a:p>
                  </a:txBody>
                  <a:tcPr marL="54864" marR="54864" marT="18288" marB="18288"/>
                </a:tc>
                <a:tc>
                  <a:txBody>
                    <a:bodyPr/>
                    <a:lstStyle/>
                    <a:p>
                      <a:pPr algn="l"/>
                      <a:r>
                        <a:rPr sz="1050" b="1">
                          <a:solidFill>
                            <a:srgbClr val="1F252B"/>
                          </a:solidFill>
                        </a:rPr>
                        <a:t>Burn</a:t>
                      </a:r>
                    </a:p>
                  </a:txBody>
                  <a:tcPr marL="54864" marR="54864" marT="18288" marB="18288"/>
                </a:tc>
                <a:tc>
                  <a:txBody>
                    <a:bodyPr/>
                    <a:lstStyle/>
                    <a:p>
                      <a:pPr algn="l"/>
                      <a:r>
                        <a:rPr sz="1050" b="1">
                          <a:solidFill>
                            <a:srgbClr val="1F252B"/>
                          </a:solidFill>
                        </a:rPr>
                        <a:t>Margin</a:t>
                      </a:r>
                    </a:p>
                  </a:txBody>
                  <a:tcPr marL="54864" marR="54864" marT="18288" marB="18288"/>
                </a:tc>
                <a:tc>
                  <a:txBody>
                    <a:bodyPr/>
                    <a:lstStyle/>
                    <a:p>
                      <a:pPr algn="l"/>
                      <a:r>
                        <a:rPr sz="1050" b="1">
                          <a:solidFill>
                            <a:srgbClr val="1F252B"/>
                          </a:solidFill>
                        </a:rPr>
                        <a:t>Health</a:t>
                      </a:r>
                    </a:p>
                  </a:txBody>
                  <a:tcPr marL="54864" marR="54864" marT="18288" marB="18288"/>
                </a:tc>
                <a:tc>
                  <a:txBody>
                    <a:bodyPr/>
                    <a:lstStyle/>
                    <a:p>
                      <a:pPr algn="l"/>
                      <a:r>
                        <a:rPr sz="1050" b="1">
                          <a:solidFill>
                            <a:srgbClr val="1F252B"/>
                          </a:solidFill>
                        </a:rPr>
                        <a:t>Concentration</a:t>
                      </a:r>
                    </a:p>
                  </a:txBody>
                  <a:tcPr marL="54864" marR="54864" marT="18288" marB="18288"/>
                </a:tc>
                <a:tc>
                  <a:txBody>
                    <a:bodyPr/>
                    <a:lstStyle/>
                    <a:p>
                      <a:pPr algn="l"/>
                      <a:r>
                        <a:rPr sz="1050" b="1">
                          <a:solidFill>
                            <a:srgbClr val="1F252B"/>
                          </a:solidFill>
                        </a:rPr>
                        <a:t>Ends</a:t>
                      </a:r>
                    </a:p>
                  </a:txBody>
                  <a:tcPr marL="54864" marR="54864" marT="18288" marB="18288"/>
                </a:tc>
              </a:tr>
              <a:tr h="292608">
                <a:tc>
                  <a:txBody>
                    <a:bodyPr/>
                    <a:lstStyle/>
                    <a:p>
                      <a:pPr algn="l"/>
                      <a:r>
                        <a:rPr sz="1050" b="0">
                          <a:solidFill>
                            <a:srgbClr val="5B6670"/>
                          </a:solidFill>
                        </a:rPr>
                        <a:t>8  Regulatory Reporting Programme</a:t>
                      </a:r>
                    </a:p>
                  </a:txBody>
                  <a:tcPr marL="54864" marR="54864" marT="18288" marB="18288"/>
                </a:tc>
                <a:tc>
                  <a:txBody>
                    <a:bodyPr/>
                    <a:lstStyle/>
                    <a:p>
                      <a:pPr algn="r"/>
                      <a:r>
                        <a:rPr sz="1050" b="0">
                          <a:solidFill>
                            <a:srgbClr val="5B6670"/>
                          </a:solidFill>
                        </a:rPr>
                        <a:t>Braemar Retail Corporation</a:t>
                      </a:r>
                    </a:p>
                  </a:txBody>
                  <a:tcPr marL="54864" marR="54864" marT="18288" marB="18288"/>
                </a:tc>
                <a:tc>
                  <a:txBody>
                    <a:bodyPr/>
                    <a:lstStyle/>
                    <a:p>
                      <a:pPr algn="r"/>
                      <a:r>
                        <a:rPr sz="1050" b="0">
                          <a:solidFill>
                            <a:srgbClr val="9C0006"/>
                          </a:solidFill>
                        </a:rPr>
                        <a:t>131.1%</a:t>
                      </a:r>
                    </a:p>
                  </a:txBody>
                  <a:tcPr marL="54864" marR="54864" marT="18288" marB="18288"/>
                </a:tc>
                <a:tc>
                  <a:txBody>
                    <a:bodyPr/>
                    <a:lstStyle/>
                    <a:p>
                      <a:pPr algn="r"/>
                      <a:r>
                        <a:rPr sz="1050" b="0">
                          <a:solidFill>
                            <a:srgbClr val="5B6670"/>
                          </a:solidFill>
                        </a:rPr>
                        <a:t>24.7%</a:t>
                      </a:r>
                    </a:p>
                  </a:txBody>
                  <a:tcPr marL="54864" marR="54864" marT="18288" marB="18288"/>
                </a:tc>
                <a:tc>
                  <a:txBody>
                    <a:bodyPr/>
                    <a:lstStyle/>
                    <a:p>
                      <a:pPr algn="r"/>
                      <a:r>
                        <a:rPr sz="1050" b="0">
                          <a:solidFill>
                            <a:srgbClr val="5B6670"/>
                          </a:solidFill>
                        </a:rPr>
                        <a:t>53.5  amber</a:t>
                      </a:r>
                    </a:p>
                  </a:txBody>
                  <a:tcPr marL="54864" marR="54864" marT="18288" marB="18288"/>
                </a:tc>
                <a:tc>
                  <a:txBody>
                    <a:bodyPr/>
                    <a:lstStyle/>
                    <a:p>
                      <a:pPr algn="r"/>
                      <a:r>
                        <a:rPr sz="1050" b="0">
                          <a:solidFill>
                            <a:srgbClr val="5B6670"/>
                          </a:solidFill>
                        </a:rPr>
                        <a:t>48.9%</a:t>
                      </a:r>
                    </a:p>
                  </a:txBody>
                  <a:tcPr marL="54864" marR="54864" marT="18288" marB="18288"/>
                </a:tc>
                <a:tc>
                  <a:txBody>
                    <a:bodyPr/>
                    <a:lstStyle/>
                    <a:p>
                      <a:pPr algn="r"/>
                      <a:r>
                        <a:rPr sz="1050" b="0">
                          <a:solidFill>
                            <a:srgbClr val="5B6670"/>
                          </a:solidFill>
                        </a:rPr>
                        <a:t>2027-05-12</a:t>
                      </a:r>
                    </a:p>
                  </a:txBody>
                  <a:tcPr marL="54864" marR="54864" marT="18288" marB="18288"/>
                </a:tc>
              </a:tr>
              <a:tr h="292608">
                <a:tc>
                  <a:txBody>
                    <a:bodyPr/>
                    <a:lstStyle/>
                    <a:p>
                      <a:pPr algn="l"/>
                      <a:r>
                        <a:rPr sz="1050" b="0">
                          <a:solidFill>
                            <a:srgbClr val="5B6670"/>
                          </a:solidFill>
                        </a:rPr>
                        <a:t>9  Pricing Modernisation</a:t>
                      </a:r>
                    </a:p>
                  </a:txBody>
                  <a:tcPr marL="54864" marR="54864" marT="18288" marB="18288"/>
                </a:tc>
                <a:tc>
                  <a:txBody>
                    <a:bodyPr/>
                    <a:lstStyle/>
                    <a:p>
                      <a:pPr algn="r"/>
                      <a:r>
                        <a:rPr sz="1050" b="0">
                          <a:solidFill>
                            <a:srgbClr val="5B6670"/>
                          </a:solidFill>
                        </a:rPr>
                        <a:t>Northfield Municipal Group</a:t>
                      </a:r>
                    </a:p>
                  </a:txBody>
                  <a:tcPr marL="54864" marR="54864" marT="18288" marB="18288"/>
                </a:tc>
                <a:tc>
                  <a:txBody>
                    <a:bodyPr/>
                    <a:lstStyle/>
                    <a:p>
                      <a:pPr algn="r"/>
                      <a:r>
                        <a:rPr sz="1050" b="0">
                          <a:solidFill>
                            <a:srgbClr val="9C0006"/>
                          </a:solidFill>
                        </a:rPr>
                        <a:t>124.5%</a:t>
                      </a:r>
                    </a:p>
                  </a:txBody>
                  <a:tcPr marL="54864" marR="54864" marT="18288" marB="18288"/>
                </a:tc>
                <a:tc>
                  <a:txBody>
                    <a:bodyPr/>
                    <a:lstStyle/>
                    <a:p>
                      <a:pPr algn="r"/>
                      <a:r>
                        <a:rPr sz="1050" b="0">
                          <a:solidFill>
                            <a:srgbClr val="5B6670"/>
                          </a:solidFill>
                        </a:rPr>
                        <a:t>33.5%</a:t>
                      </a:r>
                    </a:p>
                  </a:txBody>
                  <a:tcPr marL="54864" marR="54864" marT="18288" marB="18288"/>
                </a:tc>
                <a:tc>
                  <a:txBody>
                    <a:bodyPr/>
                    <a:lstStyle/>
                    <a:p>
                      <a:pPr algn="r"/>
                      <a:r>
                        <a:rPr sz="1050" b="0">
                          <a:solidFill>
                            <a:srgbClr val="5B6670"/>
                          </a:solidFill>
                        </a:rPr>
                        <a:t>59.5  amber</a:t>
                      </a:r>
                    </a:p>
                  </a:txBody>
                  <a:tcPr marL="54864" marR="54864" marT="18288" marB="18288"/>
                </a:tc>
                <a:tc>
                  <a:txBody>
                    <a:bodyPr/>
                    <a:lstStyle/>
                    <a:p>
                      <a:pPr algn="r"/>
                      <a:r>
                        <a:rPr sz="1050" b="0">
                          <a:solidFill>
                            <a:srgbClr val="5B6670"/>
                          </a:solidFill>
                        </a:rPr>
                        <a:t>54.1%</a:t>
                      </a:r>
                    </a:p>
                  </a:txBody>
                  <a:tcPr marL="54864" marR="54864" marT="18288" marB="18288"/>
                </a:tc>
                <a:tc>
                  <a:txBody>
                    <a:bodyPr/>
                    <a:lstStyle/>
                    <a:p>
                      <a:pPr algn="r"/>
                      <a:r>
                        <a:rPr sz="1050" b="0">
                          <a:solidFill>
                            <a:srgbClr val="5B6670"/>
                          </a:solidFill>
                        </a:rPr>
                        <a:t>2026-11-10</a:t>
                      </a:r>
                    </a:p>
                  </a:txBody>
                  <a:tcPr marL="54864" marR="54864" marT="18288" marB="18288"/>
                </a:tc>
              </a:tr>
              <a:tr h="292608">
                <a:tc>
                  <a:txBody>
                    <a:bodyPr/>
                    <a:lstStyle/>
                    <a:p>
                      <a:pPr algn="l"/>
                      <a:r>
                        <a:rPr sz="1050" b="0">
                          <a:solidFill>
                            <a:srgbClr val="5B6670"/>
                          </a:solidFill>
                        </a:rPr>
                        <a:t>20  Inventory Implementation</a:t>
                      </a:r>
                    </a:p>
                  </a:txBody>
                  <a:tcPr marL="54864" marR="54864" marT="18288" marB="18288"/>
                </a:tc>
                <a:tc>
                  <a:txBody>
                    <a:bodyPr/>
                    <a:lstStyle/>
                    <a:p>
                      <a:pPr algn="r"/>
                      <a:r>
                        <a:rPr sz="1050" b="0">
                          <a:solidFill>
                            <a:srgbClr val="5B6670"/>
                          </a:solidFill>
                        </a:rPr>
                        <a:t>Quarrymoor Transit Partners</a:t>
                      </a:r>
                    </a:p>
                  </a:txBody>
                  <a:tcPr marL="54864" marR="54864" marT="18288" marB="18288"/>
                </a:tc>
                <a:tc>
                  <a:txBody>
                    <a:bodyPr/>
                    <a:lstStyle/>
                    <a:p>
                      <a:pPr algn="r"/>
                      <a:r>
                        <a:rPr sz="1050" b="0">
                          <a:solidFill>
                            <a:srgbClr val="1F252B"/>
                          </a:solidFill>
                        </a:rPr>
                        <a:t>56.2%</a:t>
                      </a:r>
                    </a:p>
                  </a:txBody>
                  <a:tcPr marL="54864" marR="54864" marT="18288" marB="18288"/>
                </a:tc>
                <a:tc>
                  <a:txBody>
                    <a:bodyPr/>
                    <a:lstStyle/>
                    <a:p>
                      <a:pPr algn="r"/>
                      <a:r>
                        <a:rPr sz="1050" b="0">
                          <a:solidFill>
                            <a:srgbClr val="5B6670"/>
                          </a:solidFill>
                        </a:rPr>
                        <a:t>75.0%</a:t>
                      </a:r>
                    </a:p>
                  </a:txBody>
                  <a:tcPr marL="54864" marR="54864" marT="18288" marB="18288"/>
                </a:tc>
                <a:tc>
                  <a:txBody>
                    <a:bodyPr/>
                    <a:lstStyle/>
                    <a:p>
                      <a:pPr algn="r"/>
                      <a:r>
                        <a:rPr sz="1050" b="0">
                          <a:solidFill>
                            <a:srgbClr val="5B6670"/>
                          </a:solidFill>
                        </a:rPr>
                        <a:t>64.0  amber</a:t>
                      </a:r>
                    </a:p>
                  </a:txBody>
                  <a:tcPr marL="54864" marR="54864" marT="18288" marB="18288"/>
                </a:tc>
                <a:tc>
                  <a:txBody>
                    <a:bodyPr/>
                    <a:lstStyle/>
                    <a:p>
                      <a:pPr algn="r"/>
                      <a:r>
                        <a:rPr sz="1050" b="0">
                          <a:solidFill>
                            <a:srgbClr val="5B6670"/>
                          </a:solidFill>
                        </a:rPr>
                        <a:t>33.0%</a:t>
                      </a:r>
                    </a:p>
                  </a:txBody>
                  <a:tcPr marL="54864" marR="54864" marT="18288" marB="18288"/>
                </a:tc>
                <a:tc>
                  <a:txBody>
                    <a:bodyPr/>
                    <a:lstStyle/>
                    <a:p>
                      <a:pPr algn="r"/>
                      <a:r>
                        <a:rPr sz="1050" b="0">
                          <a:solidFill>
                            <a:srgbClr val="5B6670"/>
                          </a:solidFill>
                        </a:rPr>
                        <a:t>2027-04-16</a:t>
                      </a:r>
                    </a:p>
                  </a:txBody>
                  <a:tcPr marL="54864" marR="54864" marT="18288" marB="18288"/>
                </a:tc>
              </a:tr>
              <a:tr h="292608">
                <a:tc>
                  <a:txBody>
                    <a:bodyPr/>
                    <a:lstStyle/>
                    <a:p>
                      <a:pPr algn="l"/>
                      <a:r>
                        <a:rPr sz="1050" b="0">
                          <a:solidFill>
                            <a:srgbClr val="5B6670"/>
                          </a:solidFill>
                        </a:rPr>
                        <a:t>22  Billing Platform Assessment</a:t>
                      </a:r>
                    </a:p>
                  </a:txBody>
                  <a:tcPr marL="54864" marR="54864" marT="18288" marB="18288"/>
                </a:tc>
                <a:tc>
                  <a:txBody>
                    <a:bodyPr/>
                    <a:lstStyle/>
                    <a:p>
                      <a:pPr algn="r"/>
                      <a:r>
                        <a:rPr sz="1050" b="0">
                          <a:solidFill>
                            <a:srgbClr val="5B6670"/>
                          </a:solidFill>
                        </a:rPr>
                        <a:t>Fernhollow Financial Trust</a:t>
                      </a:r>
                    </a:p>
                  </a:txBody>
                  <a:tcPr marL="54864" marR="54864" marT="18288" marB="18288"/>
                </a:tc>
                <a:tc>
                  <a:txBody>
                    <a:bodyPr/>
                    <a:lstStyle/>
                    <a:p>
                      <a:pPr algn="r"/>
                      <a:r>
                        <a:rPr sz="1050" b="0">
                          <a:solidFill>
                            <a:srgbClr val="1F252B"/>
                          </a:solidFill>
                        </a:rPr>
                        <a:t>58.9%</a:t>
                      </a:r>
                    </a:p>
                  </a:txBody>
                  <a:tcPr marL="54864" marR="54864" marT="18288" marB="18288"/>
                </a:tc>
                <a:tc>
                  <a:txBody>
                    <a:bodyPr/>
                    <a:lstStyle/>
                    <a:p>
                      <a:pPr algn="r"/>
                      <a:r>
                        <a:rPr sz="1050" b="0">
                          <a:solidFill>
                            <a:srgbClr val="5B6670"/>
                          </a:solidFill>
                        </a:rPr>
                        <a:t>49.8%</a:t>
                      </a:r>
                    </a:p>
                  </a:txBody>
                  <a:tcPr marL="54864" marR="54864" marT="18288" marB="18288"/>
                </a:tc>
                <a:tc>
                  <a:txBody>
                    <a:bodyPr/>
                    <a:lstStyle/>
                    <a:p>
                      <a:pPr algn="r"/>
                      <a:r>
                        <a:rPr sz="1050" b="0">
                          <a:solidFill>
                            <a:srgbClr val="5B6670"/>
                          </a:solidFill>
                        </a:rPr>
                        <a:t>68.9  amber</a:t>
                      </a:r>
                    </a:p>
                  </a:txBody>
                  <a:tcPr marL="54864" marR="54864" marT="18288" marB="18288"/>
                </a:tc>
                <a:tc>
                  <a:txBody>
                    <a:bodyPr/>
                    <a:lstStyle/>
                    <a:p>
                      <a:pPr algn="r"/>
                      <a:r>
                        <a:rPr sz="1050" b="0">
                          <a:solidFill>
                            <a:srgbClr val="5B6670"/>
                          </a:solidFill>
                        </a:rPr>
                        <a:t>33.1%</a:t>
                      </a:r>
                    </a:p>
                  </a:txBody>
                  <a:tcPr marL="54864" marR="54864" marT="18288" marB="18288"/>
                </a:tc>
                <a:tc>
                  <a:txBody>
                    <a:bodyPr/>
                    <a:lstStyle/>
                    <a:p>
                      <a:pPr algn="r"/>
                      <a:r>
                        <a:rPr sz="1050" b="0">
                          <a:solidFill>
                            <a:srgbClr val="5B6670"/>
                          </a:solidFill>
                        </a:rPr>
                        <a:t>2027-01-25</a:t>
                      </a:r>
                    </a:p>
                  </a:txBody>
                  <a:tcPr marL="54864" marR="54864" marT="18288" marB="18288"/>
                </a:tc>
              </a:tr>
              <a:tr h="292608">
                <a:tc>
                  <a:txBody>
                    <a:bodyPr/>
                    <a:lstStyle/>
                    <a:p>
                      <a:pPr algn="l"/>
                      <a:r>
                        <a:rPr sz="1050" b="0">
                          <a:solidFill>
                            <a:srgbClr val="5B6670"/>
                          </a:solidFill>
                        </a:rPr>
                        <a:t>5  Procurement Modernisation</a:t>
                      </a:r>
                    </a:p>
                  </a:txBody>
                  <a:tcPr marL="54864" marR="54864" marT="18288" marB="18288"/>
                </a:tc>
                <a:tc>
                  <a:txBody>
                    <a:bodyPr/>
                    <a:lstStyle/>
                    <a:p>
                      <a:pPr algn="r"/>
                      <a:r>
                        <a:rPr sz="1050" b="0">
                          <a:solidFill>
                            <a:srgbClr val="5B6670"/>
                          </a:solidFill>
                        </a:rPr>
                        <a:t>Pentland Media Group</a:t>
                      </a:r>
                    </a:p>
                  </a:txBody>
                  <a:tcPr marL="54864" marR="54864" marT="18288" marB="18288"/>
                </a:tc>
                <a:tc>
                  <a:txBody>
                    <a:bodyPr/>
                    <a:lstStyle/>
                    <a:p>
                      <a:pPr algn="r"/>
                      <a:r>
                        <a:rPr sz="1050" b="0">
                          <a:solidFill>
                            <a:srgbClr val="1F252B"/>
                          </a:solidFill>
                        </a:rPr>
                        <a:t>65.1%</a:t>
                      </a:r>
                    </a:p>
                  </a:txBody>
                  <a:tcPr marL="54864" marR="54864" marT="18288" marB="18288"/>
                </a:tc>
                <a:tc>
                  <a:txBody>
                    <a:bodyPr/>
                    <a:lstStyle/>
                    <a:p>
                      <a:pPr algn="r"/>
                      <a:r>
                        <a:rPr sz="1050" b="0">
                          <a:solidFill>
                            <a:srgbClr val="5B6670"/>
                          </a:solidFill>
                        </a:rPr>
                        <a:t>-17.6%</a:t>
                      </a:r>
                    </a:p>
                  </a:txBody>
                  <a:tcPr marL="54864" marR="54864" marT="18288" marB="18288"/>
                </a:tc>
                <a:tc>
                  <a:txBody>
                    <a:bodyPr/>
                    <a:lstStyle/>
                    <a:p>
                      <a:pPr algn="r"/>
                      <a:r>
                        <a:rPr sz="1050" b="0">
                          <a:solidFill>
                            <a:srgbClr val="5B6670"/>
                          </a:solidFill>
                        </a:rPr>
                        <a:t>69.0  amber</a:t>
                      </a:r>
                    </a:p>
                  </a:txBody>
                  <a:tcPr marL="54864" marR="54864" marT="18288" marB="18288"/>
                </a:tc>
                <a:tc>
                  <a:txBody>
                    <a:bodyPr/>
                    <a:lstStyle/>
                    <a:p>
                      <a:pPr algn="r"/>
                      <a:r>
                        <a:rPr sz="1050" b="0">
                          <a:solidFill>
                            <a:srgbClr val="5B6670"/>
                          </a:solidFill>
                        </a:rPr>
                        <a:t>24.8%</a:t>
                      </a:r>
                    </a:p>
                  </a:txBody>
                  <a:tcPr marL="54864" marR="54864" marT="18288" marB="18288"/>
                </a:tc>
                <a:tc>
                  <a:txBody>
                    <a:bodyPr/>
                    <a:lstStyle/>
                    <a:p>
                      <a:pPr algn="r"/>
                      <a:r>
                        <a:rPr sz="1050" b="0">
                          <a:solidFill>
                            <a:srgbClr val="5B6670"/>
                          </a:solidFill>
                        </a:rPr>
                        <a:t>2026-10-10</a:t>
                      </a:r>
                    </a:p>
                  </a:txBody>
                  <a:tcPr marL="54864" marR="54864" marT="18288" marB="18288"/>
                </a:tc>
              </a:tr>
              <a:tr h="292608">
                <a:tc>
                  <a:txBody>
                    <a:bodyPr/>
                    <a:lstStyle/>
                    <a:p>
                      <a:pPr algn="l"/>
                      <a:r>
                        <a:rPr sz="1050" b="0">
                          <a:solidFill>
                            <a:srgbClr val="5B6670"/>
                          </a:solidFill>
                        </a:rPr>
                        <a:t>19  Grid Analytics Assessment</a:t>
                      </a:r>
                    </a:p>
                  </a:txBody>
                  <a:tcPr marL="54864" marR="54864" marT="18288" marB="18288"/>
                </a:tc>
                <a:tc>
                  <a:txBody>
                    <a:bodyPr/>
                    <a:lstStyle/>
                    <a:p>
                      <a:pPr algn="r"/>
                      <a:r>
                        <a:rPr sz="1050" b="0">
                          <a:solidFill>
                            <a:srgbClr val="5B6670"/>
                          </a:solidFill>
                        </a:rPr>
                        <a:t>Thornbury Retail Partners</a:t>
                      </a:r>
                    </a:p>
                  </a:txBody>
                  <a:tcPr marL="54864" marR="54864" marT="18288" marB="18288"/>
                </a:tc>
                <a:tc>
                  <a:txBody>
                    <a:bodyPr/>
                    <a:lstStyle/>
                    <a:p>
                      <a:pPr algn="r"/>
                      <a:r>
                        <a:rPr sz="1050" b="0">
                          <a:solidFill>
                            <a:srgbClr val="9A740B"/>
                          </a:solidFill>
                        </a:rPr>
                        <a:t>86.9%</a:t>
                      </a:r>
                    </a:p>
                  </a:txBody>
                  <a:tcPr marL="54864" marR="54864" marT="18288" marB="18288"/>
                </a:tc>
                <a:tc>
                  <a:txBody>
                    <a:bodyPr/>
                    <a:lstStyle/>
                    <a:p>
                      <a:pPr algn="r"/>
                      <a:r>
                        <a:rPr sz="1050" b="0">
                          <a:solidFill>
                            <a:srgbClr val="5B6670"/>
                          </a:solidFill>
                        </a:rPr>
                        <a:t>51.6%</a:t>
                      </a:r>
                    </a:p>
                  </a:txBody>
                  <a:tcPr marL="54864" marR="54864" marT="18288" marB="18288"/>
                </a:tc>
                <a:tc>
                  <a:txBody>
                    <a:bodyPr/>
                    <a:lstStyle/>
                    <a:p>
                      <a:pPr algn="r"/>
                      <a:r>
                        <a:rPr sz="1050" b="0">
                          <a:solidFill>
                            <a:srgbClr val="5B6670"/>
                          </a:solidFill>
                        </a:rPr>
                        <a:t>76.6  green</a:t>
                      </a:r>
                    </a:p>
                  </a:txBody>
                  <a:tcPr marL="54864" marR="54864" marT="18288" marB="18288"/>
                </a:tc>
                <a:tc>
                  <a:txBody>
                    <a:bodyPr/>
                    <a:lstStyle/>
                    <a:p>
                      <a:pPr algn="r"/>
                      <a:r>
                        <a:rPr sz="1050" b="0">
                          <a:solidFill>
                            <a:srgbClr val="5B6670"/>
                          </a:solidFill>
                        </a:rPr>
                        <a:t>59.5%</a:t>
                      </a:r>
                    </a:p>
                  </a:txBody>
                  <a:tcPr marL="54864" marR="54864" marT="18288" marB="18288"/>
                </a:tc>
                <a:tc>
                  <a:txBody>
                    <a:bodyPr/>
                    <a:lstStyle/>
                    <a:p>
                      <a:pPr algn="r"/>
                      <a:r>
                        <a:rPr sz="1050" b="0">
                          <a:solidFill>
                            <a:srgbClr val="5B6670"/>
                          </a:solidFill>
                        </a:rPr>
                        <a:t>2026-10-10</a:t>
                      </a:r>
                    </a:p>
                  </a:txBody>
                  <a:tcPr marL="54864" marR="54864" marT="18288" marB="18288"/>
                </a:tc>
              </a:tr>
              <a:tr h="292608">
                <a:tc>
                  <a:txBody>
                    <a:bodyPr/>
                    <a:lstStyle/>
                    <a:p>
                      <a:pPr algn="l"/>
                      <a:r>
                        <a:rPr sz="1050" b="0">
                          <a:solidFill>
                            <a:srgbClr val="5B6670"/>
                          </a:solidFill>
                        </a:rPr>
                        <a:t>25  Billing Platform Implementation</a:t>
                      </a:r>
                    </a:p>
                  </a:txBody>
                  <a:tcPr marL="54864" marR="54864" marT="18288" marB="18288"/>
                </a:tc>
                <a:tc>
                  <a:txBody>
                    <a:bodyPr/>
                    <a:lstStyle/>
                    <a:p>
                      <a:pPr algn="r"/>
                      <a:r>
                        <a:rPr sz="1050" b="0">
                          <a:solidFill>
                            <a:srgbClr val="5B6670"/>
                          </a:solidFill>
                        </a:rPr>
                        <a:t>Stonebridge Energy Group</a:t>
                      </a:r>
                    </a:p>
                  </a:txBody>
                  <a:tcPr marL="54864" marR="54864" marT="18288" marB="18288"/>
                </a:tc>
                <a:tc>
                  <a:txBody>
                    <a:bodyPr/>
                    <a:lstStyle/>
                    <a:p>
                      <a:pPr algn="r"/>
                      <a:r>
                        <a:rPr sz="1050" b="0">
                          <a:solidFill>
                            <a:srgbClr val="9A740B"/>
                          </a:solidFill>
                        </a:rPr>
                        <a:t>80.6%</a:t>
                      </a:r>
                    </a:p>
                  </a:txBody>
                  <a:tcPr marL="54864" marR="54864" marT="18288" marB="18288"/>
                </a:tc>
                <a:tc>
                  <a:txBody>
                    <a:bodyPr/>
                    <a:lstStyle/>
                    <a:p>
                      <a:pPr algn="r"/>
                      <a:r>
                        <a:rPr sz="1050" b="0">
                          <a:solidFill>
                            <a:srgbClr val="5B6670"/>
                          </a:solidFill>
                        </a:rPr>
                        <a:t>50.2%</a:t>
                      </a:r>
                    </a:p>
                  </a:txBody>
                  <a:tcPr marL="54864" marR="54864" marT="18288" marB="18288"/>
                </a:tc>
                <a:tc>
                  <a:txBody>
                    <a:bodyPr/>
                    <a:lstStyle/>
                    <a:p>
                      <a:pPr algn="r"/>
                      <a:r>
                        <a:rPr sz="1050" b="0">
                          <a:solidFill>
                            <a:srgbClr val="5B6670"/>
                          </a:solidFill>
                        </a:rPr>
                        <a:t>76.6  green</a:t>
                      </a:r>
                    </a:p>
                  </a:txBody>
                  <a:tcPr marL="54864" marR="54864" marT="18288" marB="18288"/>
                </a:tc>
                <a:tc>
                  <a:txBody>
                    <a:bodyPr/>
                    <a:lstStyle/>
                    <a:p>
                      <a:pPr algn="r"/>
                      <a:r>
                        <a:rPr sz="1050" b="0">
                          <a:solidFill>
                            <a:srgbClr val="5B6670"/>
                          </a:solidFill>
                        </a:rPr>
                        <a:t>53.7%</a:t>
                      </a:r>
                    </a:p>
                  </a:txBody>
                  <a:tcPr marL="54864" marR="54864" marT="18288" marB="18288"/>
                </a:tc>
                <a:tc>
                  <a:txBody>
                    <a:bodyPr/>
                    <a:lstStyle/>
                    <a:p>
                      <a:pPr algn="r"/>
                      <a:r>
                        <a:rPr sz="1050" b="0">
                          <a:solidFill>
                            <a:srgbClr val="5B6670"/>
                          </a:solidFill>
                        </a:rPr>
                        <a:t>2026-10-25</a:t>
                      </a:r>
                    </a:p>
                  </a:txBody>
                  <a:tcPr marL="54864" marR="54864" marT="18288" marB="18288"/>
                </a:tc>
              </a:tr>
              <a:tr h="292608">
                <a:tc>
                  <a:txBody>
                    <a:bodyPr/>
                    <a:lstStyle/>
                    <a:p>
                      <a:pPr algn="l"/>
                      <a:r>
                        <a:rPr sz="1050" b="0">
                          <a:solidFill>
                            <a:srgbClr val="5B6670"/>
                          </a:solidFill>
                        </a:rPr>
                        <a:t>15  Workforce Planning Programme</a:t>
                      </a:r>
                    </a:p>
                  </a:txBody>
                  <a:tcPr marL="54864" marR="54864" marT="18288" marB="18288"/>
                </a:tc>
                <a:tc>
                  <a:txBody>
                    <a:bodyPr/>
                    <a:lstStyle/>
                    <a:p>
                      <a:pPr algn="r"/>
                      <a:r>
                        <a:rPr sz="1050" b="0">
                          <a:solidFill>
                            <a:srgbClr val="5B6670"/>
                          </a:solidFill>
                        </a:rPr>
                        <a:t>Ashcombe Health Partners</a:t>
                      </a:r>
                    </a:p>
                  </a:txBody>
                  <a:tcPr marL="54864" marR="54864" marT="18288" marB="18288"/>
                </a:tc>
                <a:tc>
                  <a:txBody>
                    <a:bodyPr/>
                    <a:lstStyle/>
                    <a:p>
                      <a:pPr algn="r"/>
                      <a:r>
                        <a:rPr sz="1050" b="0">
                          <a:solidFill>
                            <a:srgbClr val="9A740B"/>
                          </a:solidFill>
                        </a:rPr>
                        <a:t>76.1%</a:t>
                      </a:r>
                    </a:p>
                  </a:txBody>
                  <a:tcPr marL="54864" marR="54864" marT="18288" marB="18288"/>
                </a:tc>
                <a:tc>
                  <a:txBody>
                    <a:bodyPr/>
                    <a:lstStyle/>
                    <a:p>
                      <a:pPr algn="r"/>
                      <a:r>
                        <a:rPr sz="1050" b="0">
                          <a:solidFill>
                            <a:srgbClr val="5B6670"/>
                          </a:solidFill>
                        </a:rPr>
                        <a:t>50.7%</a:t>
                      </a:r>
                    </a:p>
                  </a:txBody>
                  <a:tcPr marL="54864" marR="54864" marT="18288" marB="18288"/>
                </a:tc>
                <a:tc>
                  <a:txBody>
                    <a:bodyPr/>
                    <a:lstStyle/>
                    <a:p>
                      <a:pPr algn="r"/>
                      <a:r>
                        <a:rPr sz="1050" b="0">
                          <a:solidFill>
                            <a:srgbClr val="5B6670"/>
                          </a:solidFill>
                        </a:rPr>
                        <a:t>94.4  green</a:t>
                      </a:r>
                    </a:p>
                  </a:txBody>
                  <a:tcPr marL="54864" marR="54864" marT="18288" marB="18288"/>
                </a:tc>
                <a:tc>
                  <a:txBody>
                    <a:bodyPr/>
                    <a:lstStyle/>
                    <a:p>
                      <a:pPr algn="r"/>
                      <a:r>
                        <a:rPr sz="1050" b="0">
                          <a:solidFill>
                            <a:srgbClr val="5B6670"/>
                          </a:solidFill>
                        </a:rPr>
                        <a:t>50.2%</a:t>
                      </a:r>
                    </a:p>
                  </a:txBody>
                  <a:tcPr marL="54864" marR="54864" marT="18288" marB="18288"/>
                </a:tc>
                <a:tc>
                  <a:txBody>
                    <a:bodyPr/>
                    <a:lstStyle/>
                    <a:p>
                      <a:pPr algn="r"/>
                      <a:r>
                        <a:rPr sz="1050" b="0">
                          <a:solidFill>
                            <a:srgbClr val="5B6670"/>
                          </a:solidFill>
                        </a:rPr>
                        <a:t>2026-10-16</a:t>
                      </a:r>
                    </a:p>
                  </a:txBody>
                  <a:tcPr marL="54864" marR="54864" marT="18288" marB="18288"/>
                </a:tc>
              </a:tr>
            </a:tbl>
          </a:graphicData>
        </a:graphic>
      </p:graphicFrame>
      <p:sp>
        <p:nvSpPr>
          <p:cNvPr id="5" name="TextBox 4"/>
          <p:cNvSpPr txBox="1"/>
          <p:nvPr/>
        </p:nvSpPr>
        <p:spPr>
          <a:xfrm>
            <a:off x="566928" y="5394960"/>
            <a:ext cx="11057839" cy="1005840"/>
          </a:xfrm>
          <a:prstGeom prst="rect">
            <a:avLst/>
          </a:prstGeom>
          <a:noFill/>
        </p:spPr>
        <p:txBody>
          <a:bodyPr wrap="square">
            <a:spAutoFit/>
          </a:bodyPr>
          <a:lstStyle/>
          <a:p>
            <a:pPr>
              <a:spcAft>
                <a:spcPts val="400"/>
              </a:spcAft>
            </a:pPr>
            <a:r>
              <a:rPr sz="1050" b="0">
                <a:solidFill>
                  <a:srgbClr val="5B6670"/>
                </a:solidFill>
              </a:rPr>
              <a:t>Burn above 70% is amber and above 90% is red, the same thresholds the workbook applies. Ceilings are never re-baselined, so burn above 100% stays above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57839" cy="731520"/>
          </a:xfrm>
          <a:prstGeom prst="rect">
            <a:avLst/>
          </a:prstGeom>
          <a:noFill/>
        </p:spPr>
        <p:txBody>
          <a:bodyPr wrap="square">
            <a:spAutoFit/>
          </a:bodyPr>
          <a:lstStyle/>
          <a:p>
            <a:pPr>
              <a:spcAft>
                <a:spcPts val="400"/>
              </a:spcAft>
            </a:pPr>
            <a:r>
              <a:rPr sz="2200" b="1">
                <a:solidFill>
                  <a:srgbClr val="1F252B"/>
                </a:solidFill>
              </a:rPr>
              <a:t>RED · Regulatory Reporting Programme</a:t>
            </a:r>
          </a:p>
          <a:p>
            <a:pPr>
              <a:spcAft>
                <a:spcPts val="400"/>
              </a:spcAft>
            </a:pPr>
            <a:r>
              <a:rPr sz="1050" b="0">
                <a:solidFill>
                  <a:srgbClr val="5B6670"/>
                </a:solidFill>
              </a:rPr>
              <a:t>Engagement 8  ·  Braemar Retail Corporation  ·  fixed</a:t>
            </a:r>
          </a:p>
        </p:txBody>
      </p:sp>
      <p:sp>
        <p:nvSpPr>
          <p:cNvPr id="3" name="Rectangle 2"/>
          <p:cNvSpPr/>
          <p:nvPr/>
        </p:nvSpPr>
        <p:spPr>
          <a:xfrm>
            <a:off x="566928" y="1298448"/>
            <a:ext cx="11057839" cy="9525"/>
          </a:xfrm>
          <a:prstGeom prst="rect">
            <a:avLst/>
          </a:prstGeom>
          <a:solidFill>
            <a:srgbClr val="D5D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57839" cy="1371600"/>
          </a:xfrm>
          <a:prstGeom prst="rect">
            <a:avLst/>
          </a:prstGeom>
          <a:noFill/>
        </p:spPr>
        <p:txBody>
          <a:bodyPr wrap="square">
            <a:spAutoFit/>
          </a:bodyPr>
          <a:lstStyle/>
          <a:p>
            <a:pPr>
              <a:spcAft>
                <a:spcPts val="400"/>
              </a:spcAft>
            </a:pPr>
            <a:r>
              <a:rPr sz="1050" b="1">
                <a:solidFill>
                  <a:srgbClr val="5B6670"/>
                </a:solidFill>
              </a:rPr>
              <a:t>Situation</a:t>
            </a:r>
          </a:p>
          <a:p>
            <a:pPr>
              <a:spcAft>
                <a:spcPts val="400"/>
              </a:spcAft>
            </a:pPr>
            <a:r>
              <a:rPr sz="1400" b="0">
                <a:solidFill>
                  <a:srgbClr val="1F252B"/>
                </a:solidFill>
              </a:rPr>
              <a:t>Projected overrun is 146.6% against a ceiling of 1,020.0 hours, at high projection confidence. Burn is 131.1% of a 1,020.0 hour ceiling with 254 of 542 contract days remaining.</a:t>
            </a:r>
          </a:p>
        </p:txBody>
      </p:sp>
      <p:graphicFrame>
        <p:nvGraphicFramePr>
          <p:cNvPr id="5" name="Table 4"/>
          <p:cNvGraphicFramePr>
            <a:graphicFrameLocks noGrp="1"/>
          </p:cNvGraphicFramePr>
          <p:nvPr/>
        </p:nvGraphicFramePr>
        <p:xfrm>
          <a:off x="566928" y="2788920"/>
          <a:ext cx="11057836" cy="1463040"/>
        </p:xfrm>
        <a:graphic>
          <a:graphicData uri="http://schemas.openxmlformats.org/drawingml/2006/table">
            <a:tbl>
              <a:tblPr firstRow="1" bandRow="1">
                <a:tableStyleId>{5C22544A-7EE6-4342-B048-85BDC9FD1C3A}</a:tableStyleId>
              </a:tblPr>
              <a:tblGrid>
                <a:gridCol w="2764459"/>
                <a:gridCol w="2764459"/>
                <a:gridCol w="2764459"/>
                <a:gridCol w="2764459"/>
              </a:tblGrid>
              <a:tr h="292608">
                <a:tc>
                  <a:txBody>
                    <a:bodyPr/>
                    <a:lstStyle/>
                    <a:p>
                      <a:pPr algn="l"/>
                      <a:r>
                        <a:rPr sz="1050" b="1">
                          <a:solidFill>
                            <a:srgbClr val="1F252B"/>
                          </a:solidFill>
                        </a:rPr>
                        <a:t/>
                      </a:r>
                    </a:p>
                  </a:txBody>
                  <a:tcPr marL="54864" marR="54864" marT="18288" marB="18288"/>
                </a:tc>
                <a:tc>
                  <a:txBody>
                    <a:bodyPr/>
                    <a:lstStyle/>
                    <a:p>
                      <a:pPr algn="l"/>
                      <a:r>
                        <a:rPr sz="1050" b="1">
                          <a:solidFill>
                            <a:srgbClr val="1F252B"/>
                          </a:solidFill>
                        </a:rPr>
                        <a:t/>
                      </a:r>
                    </a:p>
                  </a:txBody>
                  <a:tcPr marL="54864" marR="54864" marT="18288" marB="18288"/>
                </a:tc>
                <a:tc>
                  <a:txBody>
                    <a:bodyPr/>
                    <a:lstStyle/>
                    <a:p>
                      <a:pPr algn="l"/>
                      <a:r>
                        <a:rPr sz="1050" b="1">
                          <a:solidFill>
                            <a:srgbClr val="1F252B"/>
                          </a:solidFill>
                        </a:rPr>
                        <a:t/>
                      </a:r>
                    </a:p>
                  </a:txBody>
                  <a:tcPr marL="54864" marR="54864" marT="18288" marB="18288"/>
                </a:tc>
                <a:tc>
                  <a:txBody>
                    <a:bodyPr/>
                    <a:lstStyle/>
                    <a:p>
                      <a:pPr algn="l"/>
                      <a:r>
                        <a:rPr sz="1050" b="1">
                          <a:solidFill>
                            <a:srgbClr val="1F252B"/>
                          </a:solidFill>
                        </a:rPr>
                        <a:t/>
                      </a:r>
                    </a:p>
                  </a:txBody>
                  <a:tcPr marL="54864" marR="54864" marT="18288" marB="18288"/>
                </a:tc>
              </a:tr>
              <a:tr h="292608">
                <a:tc>
                  <a:txBody>
                    <a:bodyPr/>
                    <a:lstStyle/>
                    <a:p>
                      <a:pPr algn="l"/>
                      <a:r>
                        <a:rPr sz="1050" b="0">
                          <a:solidFill>
                            <a:srgbClr val="5B6670"/>
                          </a:solidFill>
                        </a:rPr>
                        <a:t>Burn</a:t>
                      </a:r>
                    </a:p>
                  </a:txBody>
                  <a:tcPr marL="54864" marR="54864" marT="18288" marB="18288"/>
                </a:tc>
                <a:tc>
                  <a:txBody>
                    <a:bodyPr/>
                    <a:lstStyle/>
                    <a:p>
                      <a:pPr algn="r"/>
                      <a:r>
                        <a:rPr sz="1050" b="0">
                          <a:solidFill>
                            <a:srgbClr val="5B6670"/>
                          </a:solidFill>
                        </a:rPr>
                        <a:t>131.1%</a:t>
                      </a:r>
                    </a:p>
                  </a:txBody>
                  <a:tcPr marL="54864" marR="54864" marT="18288" marB="18288"/>
                </a:tc>
                <a:tc>
                  <a:txBody>
                    <a:bodyPr/>
                    <a:lstStyle/>
                    <a:p>
                      <a:pPr algn="r"/>
                      <a:r>
                        <a:rPr sz="1050" b="0">
                          <a:solidFill>
                            <a:srgbClr val="5B6670"/>
                          </a:solidFill>
                        </a:rPr>
                        <a:t>Margin</a:t>
                      </a:r>
                    </a:p>
                  </a:txBody>
                  <a:tcPr marL="54864" marR="54864" marT="18288" marB="18288"/>
                </a:tc>
                <a:tc>
                  <a:txBody>
                    <a:bodyPr/>
                    <a:lstStyle/>
                    <a:p>
                      <a:pPr algn="r"/>
                      <a:r>
                        <a:rPr sz="1050" b="0">
                          <a:solidFill>
                            <a:srgbClr val="5B6670"/>
                          </a:solidFill>
                        </a:rPr>
                        <a:t>24.7%</a:t>
                      </a:r>
                    </a:p>
                  </a:txBody>
                  <a:tcPr marL="54864" marR="54864" marT="18288" marB="18288"/>
                </a:tc>
              </a:tr>
              <a:tr h="292608">
                <a:tc>
                  <a:txBody>
                    <a:bodyPr/>
                    <a:lstStyle/>
                    <a:p>
                      <a:pPr algn="l"/>
                      <a:r>
                        <a:rPr sz="1050" b="0">
                          <a:solidFill>
                            <a:srgbClr val="5B6670"/>
                          </a:solidFill>
                        </a:rPr>
                        <a:t>Hours to date</a:t>
                      </a:r>
                    </a:p>
                  </a:txBody>
                  <a:tcPr marL="54864" marR="54864" marT="18288" marB="18288"/>
                </a:tc>
                <a:tc>
                  <a:txBody>
                    <a:bodyPr/>
                    <a:lstStyle/>
                    <a:p>
                      <a:pPr algn="r"/>
                      <a:r>
                        <a:rPr sz="1050" b="0">
                          <a:solidFill>
                            <a:srgbClr val="5B6670"/>
                          </a:solidFill>
                        </a:rPr>
                        <a:t>1,337.7</a:t>
                      </a:r>
                    </a:p>
                  </a:txBody>
                  <a:tcPr marL="54864" marR="54864" marT="18288" marB="18288"/>
                </a:tc>
                <a:tc>
                  <a:txBody>
                    <a:bodyPr/>
                    <a:lstStyle/>
                    <a:p>
                      <a:pPr algn="r"/>
                      <a:r>
                        <a:rPr sz="1050" b="0">
                          <a:solidFill>
                            <a:srgbClr val="5B6670"/>
                          </a:solidFill>
                        </a:rPr>
                        <a:t>Ceiling hours</a:t>
                      </a:r>
                    </a:p>
                  </a:txBody>
                  <a:tcPr marL="54864" marR="54864" marT="18288" marB="18288"/>
                </a:tc>
                <a:tc>
                  <a:txBody>
                    <a:bodyPr/>
                    <a:lstStyle/>
                    <a:p>
                      <a:pPr algn="r"/>
                      <a:r>
                        <a:rPr sz="1050" b="0">
                          <a:solidFill>
                            <a:srgbClr val="5B6670"/>
                          </a:solidFill>
                        </a:rPr>
                        <a:t>1,020.0</a:t>
                      </a:r>
                    </a:p>
                  </a:txBody>
                  <a:tcPr marL="54864" marR="54864" marT="18288" marB="18288"/>
                </a:tc>
              </a:tr>
              <a:tr h="292608">
                <a:tc>
                  <a:txBody>
                    <a:bodyPr/>
                    <a:lstStyle/>
                    <a:p>
                      <a:pPr algn="l"/>
                      <a:r>
                        <a:rPr sz="1050" b="0">
                          <a:solidFill>
                            <a:srgbClr val="5B6670"/>
                          </a:solidFill>
                        </a:rPr>
                        <a:t>Hours remaining</a:t>
                      </a:r>
                    </a:p>
                  </a:txBody>
                  <a:tcPr marL="54864" marR="54864" marT="18288" marB="18288"/>
                </a:tc>
                <a:tc>
                  <a:txBody>
                    <a:bodyPr/>
                    <a:lstStyle/>
                    <a:p>
                      <a:pPr algn="r"/>
                      <a:r>
                        <a:rPr sz="1050" b="0">
                          <a:solidFill>
                            <a:srgbClr val="5B6670"/>
                          </a:solidFill>
                        </a:rPr>
                        <a:t>-317.6</a:t>
                      </a:r>
                    </a:p>
                  </a:txBody>
                  <a:tcPr marL="54864" marR="54864" marT="18288" marB="18288"/>
                </a:tc>
                <a:tc>
                  <a:txBody>
                    <a:bodyPr/>
                    <a:lstStyle/>
                    <a:p>
                      <a:pPr algn="r"/>
                      <a:r>
                        <a:rPr sz="1050" b="0">
                          <a:solidFill>
                            <a:srgbClr val="5B6670"/>
                          </a:solidFill>
                        </a:rPr>
                        <a:t>Projected overrun</a:t>
                      </a:r>
                    </a:p>
                  </a:txBody>
                  <a:tcPr marL="54864" marR="54864" marT="18288" marB="18288"/>
                </a:tc>
                <a:tc>
                  <a:txBody>
                    <a:bodyPr/>
                    <a:lstStyle/>
                    <a:p>
                      <a:pPr algn="r"/>
                      <a:r>
                        <a:rPr sz="1050" b="0">
                          <a:solidFill>
                            <a:srgbClr val="5B6670"/>
                          </a:solidFill>
                        </a:rPr>
                        <a:t>146.6%</a:t>
                      </a:r>
                    </a:p>
                  </a:txBody>
                  <a:tcPr marL="54864" marR="54864" marT="18288" marB="18288"/>
                </a:tc>
              </a:tr>
              <a:tr h="292608">
                <a:tc>
                  <a:txBody>
                    <a:bodyPr/>
                    <a:lstStyle/>
                    <a:p>
                      <a:pPr algn="l"/>
                      <a:r>
                        <a:rPr sz="1050" b="0">
                          <a:solidFill>
                            <a:srgbClr val="5B6670"/>
                          </a:solidFill>
                        </a:rPr>
                        <a:t>Health</a:t>
                      </a:r>
                    </a:p>
                  </a:txBody>
                  <a:tcPr marL="54864" marR="54864" marT="18288" marB="18288"/>
                </a:tc>
                <a:tc>
                  <a:txBody>
                    <a:bodyPr/>
                    <a:lstStyle/>
                    <a:p>
                      <a:pPr algn="r"/>
                      <a:r>
                        <a:rPr sz="1050" b="0">
                          <a:solidFill>
                            <a:srgbClr val="5B6670"/>
                          </a:solidFill>
                        </a:rPr>
                        <a:t>53.5</a:t>
                      </a:r>
                    </a:p>
                  </a:txBody>
                  <a:tcPr marL="54864" marR="54864" marT="18288" marB="18288"/>
                </a:tc>
                <a:tc>
                  <a:txBody>
                    <a:bodyPr/>
                    <a:lstStyle/>
                    <a:p>
                      <a:pPr algn="r"/>
                      <a:r>
                        <a:rPr sz="1050" b="0">
                          <a:solidFill>
                            <a:srgbClr val="5B6670"/>
                          </a:solidFill>
                        </a:rPr>
                        <a:t>Band</a:t>
                      </a:r>
                    </a:p>
                  </a:txBody>
                  <a:tcPr marL="54864" marR="54864" marT="18288" marB="18288"/>
                </a:tc>
                <a:tc>
                  <a:txBody>
                    <a:bodyPr/>
                    <a:lstStyle/>
                    <a:p>
                      <a:pPr algn="r"/>
                      <a:r>
                        <a:rPr sz="1050" b="0">
                          <a:solidFill>
                            <a:srgbClr val="5B6670"/>
                          </a:solidFill>
                        </a:rPr>
                        <a:t>amber</a:t>
                      </a:r>
                    </a:p>
                  </a:txBody>
                  <a:tcPr marL="54864" marR="54864" marT="18288" marB="18288"/>
                </a:tc>
              </a:tr>
            </a:tbl>
          </a:graphicData>
        </a:graphic>
      </p:graphicFrame>
      <p:sp>
        <p:nvSpPr>
          <p:cNvPr id="6" name="TextBox 5"/>
          <p:cNvSpPr txBox="1"/>
          <p:nvPr/>
        </p:nvSpPr>
        <p:spPr>
          <a:xfrm>
            <a:off x="566928" y="4480560"/>
            <a:ext cx="11057839" cy="1828800"/>
          </a:xfrm>
          <a:prstGeom prst="rect">
            <a:avLst/>
          </a:prstGeom>
          <a:noFill/>
        </p:spPr>
        <p:txBody>
          <a:bodyPr wrap="square">
            <a:spAutoFit/>
          </a:bodyPr>
          <a:lstStyle/>
          <a:p>
            <a:pPr>
              <a:spcAft>
                <a:spcPts val="400"/>
              </a:spcAft>
            </a:pPr>
            <a:r>
              <a:rPr sz="1050" b="1">
                <a:solidFill>
                  <a:srgbClr val="5B6670"/>
                </a:solidFill>
              </a:rPr>
              <a:t>Cause</a:t>
            </a:r>
          </a:p>
          <a:p>
            <a:pPr>
              <a:spcAft>
                <a:spcPts val="400"/>
              </a:spcAft>
            </a:pPr>
            <a:r>
              <a:rPr sz="1300" b="0">
                <a:solidFill>
                  <a:srgbClr val="1F252B"/>
                </a:solidFill>
              </a:rPr>
              <a:t>Not determinable from available data. The run rate is 0.8% below this engagement's own baseline, so the overrun is not the result of a recent acceleration in hours.</a:t>
            </a:r>
          </a:p>
          <a:p>
            <a:pPr>
              <a:spcAft>
                <a:spcPts val="400"/>
              </a:spcAft>
            </a:pPr>
            <a:r>
              <a:rPr sz="1050" b="1">
                <a:solidFill>
                  <a:srgbClr val="5B6670"/>
                </a:solidFill>
              </a:rPr>
              <a:t>Recommended action</a:t>
            </a:r>
          </a:p>
          <a:p>
            <a:pPr>
              <a:spcAft>
                <a:spcPts val="400"/>
              </a:spcAft>
            </a:pPr>
            <a:r>
              <a:rPr sz="1300" b="0">
                <a:solidFill>
                  <a:srgbClr val="1F252B"/>
                </a:solidFill>
              </a:rPr>
              <a:t>Engagement lead to take a scope and funding decision to Braemar Retail Corporation. Hours to date are 1,337.65 against a 1,020.0 hour ceiling with 254 contract days still to run; the decision needed is whether the remaining scope is funded, and by what instrument. The ceiling is not to be re-baselined.</a:t>
            </a:r>
          </a:p>
          <a:p>
            <a:pPr>
              <a:spcAft>
                <a:spcPts val="400"/>
              </a:spcAft>
            </a:pPr>
            <a:r>
              <a:rPr sz="1050" b="0">
                <a:solidFill>
                  <a:srgbClr val="5B6670"/>
                </a:solidFill>
              </a:rPr>
              <a:t>Decision owner: engagement lead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57839" cy="731520"/>
          </a:xfrm>
          <a:prstGeom prst="rect">
            <a:avLst/>
          </a:prstGeom>
          <a:noFill/>
        </p:spPr>
        <p:txBody>
          <a:bodyPr wrap="square">
            <a:spAutoFit/>
          </a:bodyPr>
          <a:lstStyle/>
          <a:p>
            <a:pPr>
              <a:spcAft>
                <a:spcPts val="400"/>
              </a:spcAft>
            </a:pPr>
            <a:r>
              <a:rPr sz="2200" b="1">
                <a:solidFill>
                  <a:srgbClr val="1F252B"/>
                </a:solidFill>
              </a:rPr>
              <a:t>RED · Pricing Modernisation</a:t>
            </a:r>
          </a:p>
          <a:p>
            <a:pPr>
              <a:spcAft>
                <a:spcPts val="400"/>
              </a:spcAft>
            </a:pPr>
            <a:r>
              <a:rPr sz="1050" b="0">
                <a:solidFill>
                  <a:srgbClr val="5B6670"/>
                </a:solidFill>
              </a:rPr>
              <a:t>Engagement 9  ·  Northfield Municipal Group  ·  fixed</a:t>
            </a:r>
          </a:p>
        </p:txBody>
      </p:sp>
      <p:sp>
        <p:nvSpPr>
          <p:cNvPr id="3" name="Rectangle 2"/>
          <p:cNvSpPr/>
          <p:nvPr/>
        </p:nvSpPr>
        <p:spPr>
          <a:xfrm>
            <a:off x="566928" y="1298448"/>
            <a:ext cx="11057839" cy="9525"/>
          </a:xfrm>
          <a:prstGeom prst="rect">
            <a:avLst/>
          </a:prstGeom>
          <a:solidFill>
            <a:srgbClr val="D5D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57839" cy="1371600"/>
          </a:xfrm>
          <a:prstGeom prst="rect">
            <a:avLst/>
          </a:prstGeom>
          <a:noFill/>
        </p:spPr>
        <p:txBody>
          <a:bodyPr wrap="square">
            <a:spAutoFit/>
          </a:bodyPr>
          <a:lstStyle/>
          <a:p>
            <a:pPr>
              <a:spcAft>
                <a:spcPts val="400"/>
              </a:spcAft>
            </a:pPr>
            <a:r>
              <a:rPr sz="1050" b="1">
                <a:solidFill>
                  <a:srgbClr val="5B6670"/>
                </a:solidFill>
              </a:rPr>
              <a:t>Situation</a:t>
            </a:r>
          </a:p>
          <a:p>
            <a:pPr>
              <a:spcAft>
                <a:spcPts val="400"/>
              </a:spcAft>
            </a:pPr>
            <a:r>
              <a:rPr sz="1400" b="0">
                <a:solidFill>
                  <a:srgbClr val="1F252B"/>
                </a:solidFill>
              </a:rPr>
              <a:t>Projected overrun is 78.8% against a ceiling of 780.0 hours, at high projection confidence. Burn is 124.5% of a 780.0 hour ceiling with 71 of 291 contract days remaining.</a:t>
            </a:r>
          </a:p>
        </p:txBody>
      </p:sp>
      <p:graphicFrame>
        <p:nvGraphicFramePr>
          <p:cNvPr id="5" name="Table 4"/>
          <p:cNvGraphicFramePr>
            <a:graphicFrameLocks noGrp="1"/>
          </p:cNvGraphicFramePr>
          <p:nvPr/>
        </p:nvGraphicFramePr>
        <p:xfrm>
          <a:off x="566928" y="2788920"/>
          <a:ext cx="11057836" cy="1463040"/>
        </p:xfrm>
        <a:graphic>
          <a:graphicData uri="http://schemas.openxmlformats.org/drawingml/2006/table">
            <a:tbl>
              <a:tblPr firstRow="1" bandRow="1">
                <a:tableStyleId>{5C22544A-7EE6-4342-B048-85BDC9FD1C3A}</a:tableStyleId>
              </a:tblPr>
              <a:tblGrid>
                <a:gridCol w="2764459"/>
                <a:gridCol w="2764459"/>
                <a:gridCol w="2764459"/>
                <a:gridCol w="2764459"/>
              </a:tblGrid>
              <a:tr h="292608">
                <a:tc>
                  <a:txBody>
                    <a:bodyPr/>
                    <a:lstStyle/>
                    <a:p>
                      <a:pPr algn="l"/>
                      <a:r>
                        <a:rPr sz="1050" b="1">
                          <a:solidFill>
                            <a:srgbClr val="1F252B"/>
                          </a:solidFill>
                        </a:rPr>
                        <a:t/>
                      </a:r>
                    </a:p>
                  </a:txBody>
                  <a:tcPr marL="54864" marR="54864" marT="18288" marB="18288"/>
                </a:tc>
                <a:tc>
                  <a:txBody>
                    <a:bodyPr/>
                    <a:lstStyle/>
                    <a:p>
                      <a:pPr algn="l"/>
                      <a:r>
                        <a:rPr sz="1050" b="1">
                          <a:solidFill>
                            <a:srgbClr val="1F252B"/>
                          </a:solidFill>
                        </a:rPr>
                        <a:t/>
                      </a:r>
                    </a:p>
                  </a:txBody>
                  <a:tcPr marL="54864" marR="54864" marT="18288" marB="18288"/>
                </a:tc>
                <a:tc>
                  <a:txBody>
                    <a:bodyPr/>
                    <a:lstStyle/>
                    <a:p>
                      <a:pPr algn="l"/>
                      <a:r>
                        <a:rPr sz="1050" b="1">
                          <a:solidFill>
                            <a:srgbClr val="1F252B"/>
                          </a:solidFill>
                        </a:rPr>
                        <a:t/>
                      </a:r>
                    </a:p>
                  </a:txBody>
                  <a:tcPr marL="54864" marR="54864" marT="18288" marB="18288"/>
                </a:tc>
                <a:tc>
                  <a:txBody>
                    <a:bodyPr/>
                    <a:lstStyle/>
                    <a:p>
                      <a:pPr algn="l"/>
                      <a:r>
                        <a:rPr sz="1050" b="1">
                          <a:solidFill>
                            <a:srgbClr val="1F252B"/>
                          </a:solidFill>
                        </a:rPr>
                        <a:t/>
                      </a:r>
                    </a:p>
                  </a:txBody>
                  <a:tcPr marL="54864" marR="54864" marT="18288" marB="18288"/>
                </a:tc>
              </a:tr>
              <a:tr h="292608">
                <a:tc>
                  <a:txBody>
                    <a:bodyPr/>
                    <a:lstStyle/>
                    <a:p>
                      <a:pPr algn="l"/>
                      <a:r>
                        <a:rPr sz="1050" b="0">
                          <a:solidFill>
                            <a:srgbClr val="5B6670"/>
                          </a:solidFill>
                        </a:rPr>
                        <a:t>Burn</a:t>
                      </a:r>
                    </a:p>
                  </a:txBody>
                  <a:tcPr marL="54864" marR="54864" marT="18288" marB="18288"/>
                </a:tc>
                <a:tc>
                  <a:txBody>
                    <a:bodyPr/>
                    <a:lstStyle/>
                    <a:p>
                      <a:pPr algn="r"/>
                      <a:r>
                        <a:rPr sz="1050" b="0">
                          <a:solidFill>
                            <a:srgbClr val="5B6670"/>
                          </a:solidFill>
                        </a:rPr>
                        <a:t>124.5%</a:t>
                      </a:r>
                    </a:p>
                  </a:txBody>
                  <a:tcPr marL="54864" marR="54864" marT="18288" marB="18288"/>
                </a:tc>
                <a:tc>
                  <a:txBody>
                    <a:bodyPr/>
                    <a:lstStyle/>
                    <a:p>
                      <a:pPr algn="r"/>
                      <a:r>
                        <a:rPr sz="1050" b="0">
                          <a:solidFill>
                            <a:srgbClr val="5B6670"/>
                          </a:solidFill>
                        </a:rPr>
                        <a:t>Margin</a:t>
                      </a:r>
                    </a:p>
                  </a:txBody>
                  <a:tcPr marL="54864" marR="54864" marT="18288" marB="18288"/>
                </a:tc>
                <a:tc>
                  <a:txBody>
                    <a:bodyPr/>
                    <a:lstStyle/>
                    <a:p>
                      <a:pPr algn="r"/>
                      <a:r>
                        <a:rPr sz="1050" b="0">
                          <a:solidFill>
                            <a:srgbClr val="5B6670"/>
                          </a:solidFill>
                        </a:rPr>
                        <a:t>33.5%</a:t>
                      </a:r>
                    </a:p>
                  </a:txBody>
                  <a:tcPr marL="54864" marR="54864" marT="18288" marB="18288"/>
                </a:tc>
              </a:tr>
              <a:tr h="292608">
                <a:tc>
                  <a:txBody>
                    <a:bodyPr/>
                    <a:lstStyle/>
                    <a:p>
                      <a:pPr algn="l"/>
                      <a:r>
                        <a:rPr sz="1050" b="0">
                          <a:solidFill>
                            <a:srgbClr val="5B6670"/>
                          </a:solidFill>
                        </a:rPr>
                        <a:t>Hours to date</a:t>
                      </a:r>
                    </a:p>
                  </a:txBody>
                  <a:tcPr marL="54864" marR="54864" marT="18288" marB="18288"/>
                </a:tc>
                <a:tc>
                  <a:txBody>
                    <a:bodyPr/>
                    <a:lstStyle/>
                    <a:p>
                      <a:pPr algn="r"/>
                      <a:r>
                        <a:rPr sz="1050" b="0">
                          <a:solidFill>
                            <a:srgbClr val="5B6670"/>
                          </a:solidFill>
                        </a:rPr>
                        <a:t>971.2</a:t>
                      </a:r>
                    </a:p>
                  </a:txBody>
                  <a:tcPr marL="54864" marR="54864" marT="18288" marB="18288"/>
                </a:tc>
                <a:tc>
                  <a:txBody>
                    <a:bodyPr/>
                    <a:lstStyle/>
                    <a:p>
                      <a:pPr algn="r"/>
                      <a:r>
                        <a:rPr sz="1050" b="0">
                          <a:solidFill>
                            <a:srgbClr val="5B6670"/>
                          </a:solidFill>
                        </a:rPr>
                        <a:t>Ceiling hours</a:t>
                      </a:r>
                    </a:p>
                  </a:txBody>
                  <a:tcPr marL="54864" marR="54864" marT="18288" marB="18288"/>
                </a:tc>
                <a:tc>
                  <a:txBody>
                    <a:bodyPr/>
                    <a:lstStyle/>
                    <a:p>
                      <a:pPr algn="r"/>
                      <a:r>
                        <a:rPr sz="1050" b="0">
                          <a:solidFill>
                            <a:srgbClr val="5B6670"/>
                          </a:solidFill>
                        </a:rPr>
                        <a:t>780.0</a:t>
                      </a:r>
                    </a:p>
                  </a:txBody>
                  <a:tcPr marL="54864" marR="54864" marT="18288" marB="18288"/>
                </a:tc>
              </a:tr>
              <a:tr h="292608">
                <a:tc>
                  <a:txBody>
                    <a:bodyPr/>
                    <a:lstStyle/>
                    <a:p>
                      <a:pPr algn="l"/>
                      <a:r>
                        <a:rPr sz="1050" b="0">
                          <a:solidFill>
                            <a:srgbClr val="5B6670"/>
                          </a:solidFill>
                        </a:rPr>
                        <a:t>Hours remaining</a:t>
                      </a:r>
                    </a:p>
                  </a:txBody>
                  <a:tcPr marL="54864" marR="54864" marT="18288" marB="18288"/>
                </a:tc>
                <a:tc>
                  <a:txBody>
                    <a:bodyPr/>
                    <a:lstStyle/>
                    <a:p>
                      <a:pPr algn="r"/>
                      <a:r>
                        <a:rPr sz="1050" b="0">
                          <a:solidFill>
                            <a:srgbClr val="5B6670"/>
                          </a:solidFill>
                        </a:rPr>
                        <a:t>-191.2</a:t>
                      </a:r>
                    </a:p>
                  </a:txBody>
                  <a:tcPr marL="54864" marR="54864" marT="18288" marB="18288"/>
                </a:tc>
                <a:tc>
                  <a:txBody>
                    <a:bodyPr/>
                    <a:lstStyle/>
                    <a:p>
                      <a:pPr algn="r"/>
                      <a:r>
                        <a:rPr sz="1050" b="0">
                          <a:solidFill>
                            <a:srgbClr val="5B6670"/>
                          </a:solidFill>
                        </a:rPr>
                        <a:t>Projected overrun</a:t>
                      </a:r>
                    </a:p>
                  </a:txBody>
                  <a:tcPr marL="54864" marR="54864" marT="18288" marB="18288"/>
                </a:tc>
                <a:tc>
                  <a:txBody>
                    <a:bodyPr/>
                    <a:lstStyle/>
                    <a:p>
                      <a:pPr algn="r"/>
                      <a:r>
                        <a:rPr sz="1050" b="0">
                          <a:solidFill>
                            <a:srgbClr val="5B6670"/>
                          </a:solidFill>
                        </a:rPr>
                        <a:t>78.8%</a:t>
                      </a:r>
                    </a:p>
                  </a:txBody>
                  <a:tcPr marL="54864" marR="54864" marT="18288" marB="18288"/>
                </a:tc>
              </a:tr>
              <a:tr h="292608">
                <a:tc>
                  <a:txBody>
                    <a:bodyPr/>
                    <a:lstStyle/>
                    <a:p>
                      <a:pPr algn="l"/>
                      <a:r>
                        <a:rPr sz="1050" b="0">
                          <a:solidFill>
                            <a:srgbClr val="5B6670"/>
                          </a:solidFill>
                        </a:rPr>
                        <a:t>Health</a:t>
                      </a:r>
                    </a:p>
                  </a:txBody>
                  <a:tcPr marL="54864" marR="54864" marT="18288" marB="18288"/>
                </a:tc>
                <a:tc>
                  <a:txBody>
                    <a:bodyPr/>
                    <a:lstStyle/>
                    <a:p>
                      <a:pPr algn="r"/>
                      <a:r>
                        <a:rPr sz="1050" b="0">
                          <a:solidFill>
                            <a:srgbClr val="5B6670"/>
                          </a:solidFill>
                        </a:rPr>
                        <a:t>59.5</a:t>
                      </a:r>
                    </a:p>
                  </a:txBody>
                  <a:tcPr marL="54864" marR="54864" marT="18288" marB="18288"/>
                </a:tc>
                <a:tc>
                  <a:txBody>
                    <a:bodyPr/>
                    <a:lstStyle/>
                    <a:p>
                      <a:pPr algn="r"/>
                      <a:r>
                        <a:rPr sz="1050" b="0">
                          <a:solidFill>
                            <a:srgbClr val="5B6670"/>
                          </a:solidFill>
                        </a:rPr>
                        <a:t>Band</a:t>
                      </a:r>
                    </a:p>
                  </a:txBody>
                  <a:tcPr marL="54864" marR="54864" marT="18288" marB="18288"/>
                </a:tc>
                <a:tc>
                  <a:txBody>
                    <a:bodyPr/>
                    <a:lstStyle/>
                    <a:p>
                      <a:pPr algn="r"/>
                      <a:r>
                        <a:rPr sz="1050" b="0">
                          <a:solidFill>
                            <a:srgbClr val="5B6670"/>
                          </a:solidFill>
                        </a:rPr>
                        <a:t>amber</a:t>
                      </a:r>
                    </a:p>
                  </a:txBody>
                  <a:tcPr marL="54864" marR="54864" marT="18288" marB="18288"/>
                </a:tc>
              </a:tr>
            </a:tbl>
          </a:graphicData>
        </a:graphic>
      </p:graphicFrame>
      <p:sp>
        <p:nvSpPr>
          <p:cNvPr id="6" name="TextBox 5"/>
          <p:cNvSpPr txBox="1"/>
          <p:nvPr/>
        </p:nvSpPr>
        <p:spPr>
          <a:xfrm>
            <a:off x="566928" y="4480560"/>
            <a:ext cx="11057839" cy="1828800"/>
          </a:xfrm>
          <a:prstGeom prst="rect">
            <a:avLst/>
          </a:prstGeom>
          <a:noFill/>
        </p:spPr>
        <p:txBody>
          <a:bodyPr wrap="square">
            <a:spAutoFit/>
          </a:bodyPr>
          <a:lstStyle/>
          <a:p>
            <a:pPr>
              <a:spcAft>
                <a:spcPts val="400"/>
              </a:spcAft>
            </a:pPr>
            <a:r>
              <a:rPr sz="1050" b="1">
                <a:solidFill>
                  <a:srgbClr val="5B6670"/>
                </a:solidFill>
              </a:rPr>
              <a:t>Cause</a:t>
            </a:r>
          </a:p>
          <a:p>
            <a:pPr>
              <a:spcAft>
                <a:spcPts val="400"/>
              </a:spcAft>
            </a:pPr>
            <a:r>
              <a:rPr sz="1300" b="0">
                <a:solidFill>
                  <a:srgbClr val="1F252B"/>
                </a:solidFill>
              </a:rPr>
              <a:t>Not determinable from available data. The run rate is 12.5% above this engagement's own baseline of 37.08 hours per week.</a:t>
            </a:r>
          </a:p>
          <a:p>
            <a:pPr>
              <a:spcAft>
                <a:spcPts val="400"/>
              </a:spcAft>
            </a:pPr>
            <a:r>
              <a:rPr sz="1050" b="1">
                <a:solidFill>
                  <a:srgbClr val="5B6670"/>
                </a:solidFill>
              </a:rPr>
              <a:t>Recommended action</a:t>
            </a:r>
          </a:p>
          <a:p>
            <a:pPr>
              <a:spcAft>
                <a:spcPts val="400"/>
              </a:spcAft>
            </a:pPr>
            <a:r>
              <a:rPr sz="1300" b="0">
                <a:solidFill>
                  <a:srgbClr val="1F252B"/>
                </a:solidFill>
              </a:rPr>
              <a:t>Engagement lead to take a change order or stop-work decision to Northfield Municipal Group. Hours to date are 971.2 against a 780.0 hour ceiling with 71 contract days remaining. The ceiling is not to be re-baselined.</a:t>
            </a:r>
          </a:p>
          <a:p>
            <a:pPr>
              <a:spcAft>
                <a:spcPts val="400"/>
              </a:spcAft>
            </a:pPr>
            <a:r>
              <a:rPr sz="1050" b="0">
                <a:solidFill>
                  <a:srgbClr val="5B6670"/>
                </a:solidFill>
              </a:rPr>
              <a:t>Decision owner: engagement lead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57839" cy="731520"/>
          </a:xfrm>
          <a:prstGeom prst="rect">
            <a:avLst/>
          </a:prstGeom>
          <a:noFill/>
        </p:spPr>
        <p:txBody>
          <a:bodyPr wrap="square">
            <a:spAutoFit/>
          </a:bodyPr>
          <a:lstStyle/>
          <a:p>
            <a:pPr>
              <a:spcAft>
                <a:spcPts val="400"/>
              </a:spcAft>
            </a:pPr>
            <a:r>
              <a:rPr sz="2200" b="1">
                <a:solidFill>
                  <a:srgbClr val="1F252B"/>
                </a:solidFill>
              </a:rPr>
              <a:t>RED · Inventory Implementation</a:t>
            </a:r>
          </a:p>
          <a:p>
            <a:pPr>
              <a:spcAft>
                <a:spcPts val="400"/>
              </a:spcAft>
            </a:pPr>
            <a:r>
              <a:rPr sz="1050" b="0">
                <a:solidFill>
                  <a:srgbClr val="5B6670"/>
                </a:solidFill>
              </a:rPr>
              <a:t>Engagement 20  ·  Quarrymoor Transit Partners  ·  fixed</a:t>
            </a:r>
          </a:p>
        </p:txBody>
      </p:sp>
      <p:sp>
        <p:nvSpPr>
          <p:cNvPr id="3" name="Rectangle 2"/>
          <p:cNvSpPr/>
          <p:nvPr/>
        </p:nvSpPr>
        <p:spPr>
          <a:xfrm>
            <a:off x="566928" y="1298448"/>
            <a:ext cx="11057839" cy="9525"/>
          </a:xfrm>
          <a:prstGeom prst="rect">
            <a:avLst/>
          </a:prstGeom>
          <a:solidFill>
            <a:srgbClr val="D5D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57839" cy="1371600"/>
          </a:xfrm>
          <a:prstGeom prst="rect">
            <a:avLst/>
          </a:prstGeom>
          <a:noFill/>
        </p:spPr>
        <p:txBody>
          <a:bodyPr wrap="square">
            <a:spAutoFit/>
          </a:bodyPr>
          <a:lstStyle/>
          <a:p>
            <a:pPr>
              <a:spcAft>
                <a:spcPts val="400"/>
              </a:spcAft>
            </a:pPr>
            <a:r>
              <a:rPr sz="1050" b="1">
                <a:solidFill>
                  <a:srgbClr val="5B6670"/>
                </a:solidFill>
              </a:rPr>
              <a:t>Situation</a:t>
            </a:r>
          </a:p>
          <a:p>
            <a:pPr>
              <a:spcAft>
                <a:spcPts val="400"/>
              </a:spcAft>
            </a:pPr>
            <a:r>
              <a:rPr sz="1400" b="0">
                <a:solidFill>
                  <a:srgbClr val="1F252B"/>
                </a:solidFill>
              </a:rPr>
              <a:t>Projected overrun is 30.8% against a ceiling of 4,840.0 hours, at high projection confidence.</a:t>
            </a:r>
          </a:p>
        </p:txBody>
      </p:sp>
      <p:graphicFrame>
        <p:nvGraphicFramePr>
          <p:cNvPr id="5" name="Table 4"/>
          <p:cNvGraphicFramePr>
            <a:graphicFrameLocks noGrp="1"/>
          </p:cNvGraphicFramePr>
          <p:nvPr/>
        </p:nvGraphicFramePr>
        <p:xfrm>
          <a:off x="566928" y="2788920"/>
          <a:ext cx="11057836" cy="1463040"/>
        </p:xfrm>
        <a:graphic>
          <a:graphicData uri="http://schemas.openxmlformats.org/drawingml/2006/table">
            <a:tbl>
              <a:tblPr firstRow="1" bandRow="1">
                <a:tableStyleId>{5C22544A-7EE6-4342-B048-85BDC9FD1C3A}</a:tableStyleId>
              </a:tblPr>
              <a:tblGrid>
                <a:gridCol w="2764459"/>
                <a:gridCol w="2764459"/>
                <a:gridCol w="2764459"/>
                <a:gridCol w="2764459"/>
              </a:tblGrid>
              <a:tr h="292608">
                <a:tc>
                  <a:txBody>
                    <a:bodyPr/>
                    <a:lstStyle/>
                    <a:p>
                      <a:pPr algn="l"/>
                      <a:r>
                        <a:rPr sz="1050" b="1">
                          <a:solidFill>
                            <a:srgbClr val="1F252B"/>
                          </a:solidFill>
                        </a:rPr>
                        <a:t/>
                      </a:r>
                    </a:p>
                  </a:txBody>
                  <a:tcPr marL="54864" marR="54864" marT="18288" marB="18288"/>
                </a:tc>
                <a:tc>
                  <a:txBody>
                    <a:bodyPr/>
                    <a:lstStyle/>
                    <a:p>
                      <a:pPr algn="l"/>
                      <a:r>
                        <a:rPr sz="1050" b="1">
                          <a:solidFill>
                            <a:srgbClr val="1F252B"/>
                          </a:solidFill>
                        </a:rPr>
                        <a:t/>
                      </a:r>
                    </a:p>
                  </a:txBody>
                  <a:tcPr marL="54864" marR="54864" marT="18288" marB="18288"/>
                </a:tc>
                <a:tc>
                  <a:txBody>
                    <a:bodyPr/>
                    <a:lstStyle/>
                    <a:p>
                      <a:pPr algn="l"/>
                      <a:r>
                        <a:rPr sz="1050" b="1">
                          <a:solidFill>
                            <a:srgbClr val="1F252B"/>
                          </a:solidFill>
                        </a:rPr>
                        <a:t/>
                      </a:r>
                    </a:p>
                  </a:txBody>
                  <a:tcPr marL="54864" marR="54864" marT="18288" marB="18288"/>
                </a:tc>
                <a:tc>
                  <a:txBody>
                    <a:bodyPr/>
                    <a:lstStyle/>
                    <a:p>
                      <a:pPr algn="l"/>
                      <a:r>
                        <a:rPr sz="1050" b="1">
                          <a:solidFill>
                            <a:srgbClr val="1F252B"/>
                          </a:solidFill>
                        </a:rPr>
                        <a:t/>
                      </a:r>
                    </a:p>
                  </a:txBody>
                  <a:tcPr marL="54864" marR="54864" marT="18288" marB="18288"/>
                </a:tc>
              </a:tr>
              <a:tr h="292608">
                <a:tc>
                  <a:txBody>
                    <a:bodyPr/>
                    <a:lstStyle/>
                    <a:p>
                      <a:pPr algn="l"/>
                      <a:r>
                        <a:rPr sz="1050" b="0">
                          <a:solidFill>
                            <a:srgbClr val="5B6670"/>
                          </a:solidFill>
                        </a:rPr>
                        <a:t>Burn</a:t>
                      </a:r>
                    </a:p>
                  </a:txBody>
                  <a:tcPr marL="54864" marR="54864" marT="18288" marB="18288"/>
                </a:tc>
                <a:tc>
                  <a:txBody>
                    <a:bodyPr/>
                    <a:lstStyle/>
                    <a:p>
                      <a:pPr algn="r"/>
                      <a:r>
                        <a:rPr sz="1050" b="0">
                          <a:solidFill>
                            <a:srgbClr val="5B6670"/>
                          </a:solidFill>
                        </a:rPr>
                        <a:t>56.2%</a:t>
                      </a:r>
                    </a:p>
                  </a:txBody>
                  <a:tcPr marL="54864" marR="54864" marT="18288" marB="18288"/>
                </a:tc>
                <a:tc>
                  <a:txBody>
                    <a:bodyPr/>
                    <a:lstStyle/>
                    <a:p>
                      <a:pPr algn="r"/>
                      <a:r>
                        <a:rPr sz="1050" b="0">
                          <a:solidFill>
                            <a:srgbClr val="5B6670"/>
                          </a:solidFill>
                        </a:rPr>
                        <a:t>Margin</a:t>
                      </a:r>
                    </a:p>
                  </a:txBody>
                  <a:tcPr marL="54864" marR="54864" marT="18288" marB="18288"/>
                </a:tc>
                <a:tc>
                  <a:txBody>
                    <a:bodyPr/>
                    <a:lstStyle/>
                    <a:p>
                      <a:pPr algn="r"/>
                      <a:r>
                        <a:rPr sz="1050" b="0">
                          <a:solidFill>
                            <a:srgbClr val="5B6670"/>
                          </a:solidFill>
                        </a:rPr>
                        <a:t>75.0%</a:t>
                      </a:r>
                    </a:p>
                  </a:txBody>
                  <a:tcPr marL="54864" marR="54864" marT="18288" marB="18288"/>
                </a:tc>
              </a:tr>
              <a:tr h="292608">
                <a:tc>
                  <a:txBody>
                    <a:bodyPr/>
                    <a:lstStyle/>
                    <a:p>
                      <a:pPr algn="l"/>
                      <a:r>
                        <a:rPr sz="1050" b="0">
                          <a:solidFill>
                            <a:srgbClr val="5B6670"/>
                          </a:solidFill>
                        </a:rPr>
                        <a:t>Hours to date</a:t>
                      </a:r>
                    </a:p>
                  </a:txBody>
                  <a:tcPr marL="54864" marR="54864" marT="18288" marB="18288"/>
                </a:tc>
                <a:tc>
                  <a:txBody>
                    <a:bodyPr/>
                    <a:lstStyle/>
                    <a:p>
                      <a:pPr algn="r"/>
                      <a:r>
                        <a:rPr sz="1050" b="0">
                          <a:solidFill>
                            <a:srgbClr val="5B6670"/>
                          </a:solidFill>
                        </a:rPr>
                        <a:t>2,720.7</a:t>
                      </a:r>
                    </a:p>
                  </a:txBody>
                  <a:tcPr marL="54864" marR="54864" marT="18288" marB="18288"/>
                </a:tc>
                <a:tc>
                  <a:txBody>
                    <a:bodyPr/>
                    <a:lstStyle/>
                    <a:p>
                      <a:pPr algn="r"/>
                      <a:r>
                        <a:rPr sz="1050" b="0">
                          <a:solidFill>
                            <a:srgbClr val="5B6670"/>
                          </a:solidFill>
                        </a:rPr>
                        <a:t>Ceiling hours</a:t>
                      </a:r>
                    </a:p>
                  </a:txBody>
                  <a:tcPr marL="54864" marR="54864" marT="18288" marB="18288"/>
                </a:tc>
                <a:tc>
                  <a:txBody>
                    <a:bodyPr/>
                    <a:lstStyle/>
                    <a:p>
                      <a:pPr algn="r"/>
                      <a:r>
                        <a:rPr sz="1050" b="0">
                          <a:solidFill>
                            <a:srgbClr val="5B6670"/>
                          </a:solidFill>
                        </a:rPr>
                        <a:t>4,840.0</a:t>
                      </a:r>
                    </a:p>
                  </a:txBody>
                  <a:tcPr marL="54864" marR="54864" marT="18288" marB="18288"/>
                </a:tc>
              </a:tr>
              <a:tr h="292608">
                <a:tc>
                  <a:txBody>
                    <a:bodyPr/>
                    <a:lstStyle/>
                    <a:p>
                      <a:pPr algn="l"/>
                      <a:r>
                        <a:rPr sz="1050" b="0">
                          <a:solidFill>
                            <a:srgbClr val="5B6670"/>
                          </a:solidFill>
                        </a:rPr>
                        <a:t>Hours remaining</a:t>
                      </a:r>
                    </a:p>
                  </a:txBody>
                  <a:tcPr marL="54864" marR="54864" marT="18288" marB="18288"/>
                </a:tc>
                <a:tc>
                  <a:txBody>
                    <a:bodyPr/>
                    <a:lstStyle/>
                    <a:p>
                      <a:pPr algn="r"/>
                      <a:r>
                        <a:rPr sz="1050" b="0">
                          <a:solidFill>
                            <a:srgbClr val="5B6670"/>
                          </a:solidFill>
                        </a:rPr>
                        <a:t>2,119.3</a:t>
                      </a:r>
                    </a:p>
                  </a:txBody>
                  <a:tcPr marL="54864" marR="54864" marT="18288" marB="18288"/>
                </a:tc>
                <a:tc>
                  <a:txBody>
                    <a:bodyPr/>
                    <a:lstStyle/>
                    <a:p>
                      <a:pPr algn="r"/>
                      <a:r>
                        <a:rPr sz="1050" b="0">
                          <a:solidFill>
                            <a:srgbClr val="5B6670"/>
                          </a:solidFill>
                        </a:rPr>
                        <a:t>Projected overrun</a:t>
                      </a:r>
                    </a:p>
                  </a:txBody>
                  <a:tcPr marL="54864" marR="54864" marT="18288" marB="18288"/>
                </a:tc>
                <a:tc>
                  <a:txBody>
                    <a:bodyPr/>
                    <a:lstStyle/>
                    <a:p>
                      <a:pPr algn="r"/>
                      <a:r>
                        <a:rPr sz="1050" b="0">
                          <a:solidFill>
                            <a:srgbClr val="5B6670"/>
                          </a:solidFill>
                        </a:rPr>
                        <a:t>30.8%</a:t>
                      </a:r>
                    </a:p>
                  </a:txBody>
                  <a:tcPr marL="54864" marR="54864" marT="18288" marB="18288"/>
                </a:tc>
              </a:tr>
              <a:tr h="292608">
                <a:tc>
                  <a:txBody>
                    <a:bodyPr/>
                    <a:lstStyle/>
                    <a:p>
                      <a:pPr algn="l"/>
                      <a:r>
                        <a:rPr sz="1050" b="0">
                          <a:solidFill>
                            <a:srgbClr val="5B6670"/>
                          </a:solidFill>
                        </a:rPr>
                        <a:t>Health</a:t>
                      </a:r>
                    </a:p>
                  </a:txBody>
                  <a:tcPr marL="54864" marR="54864" marT="18288" marB="18288"/>
                </a:tc>
                <a:tc>
                  <a:txBody>
                    <a:bodyPr/>
                    <a:lstStyle/>
                    <a:p>
                      <a:pPr algn="r"/>
                      <a:r>
                        <a:rPr sz="1050" b="0">
                          <a:solidFill>
                            <a:srgbClr val="5B6670"/>
                          </a:solidFill>
                        </a:rPr>
                        <a:t>64.0</a:t>
                      </a:r>
                    </a:p>
                  </a:txBody>
                  <a:tcPr marL="54864" marR="54864" marT="18288" marB="18288"/>
                </a:tc>
                <a:tc>
                  <a:txBody>
                    <a:bodyPr/>
                    <a:lstStyle/>
                    <a:p>
                      <a:pPr algn="r"/>
                      <a:r>
                        <a:rPr sz="1050" b="0">
                          <a:solidFill>
                            <a:srgbClr val="5B6670"/>
                          </a:solidFill>
                        </a:rPr>
                        <a:t>Band</a:t>
                      </a:r>
                    </a:p>
                  </a:txBody>
                  <a:tcPr marL="54864" marR="54864" marT="18288" marB="18288"/>
                </a:tc>
                <a:tc>
                  <a:txBody>
                    <a:bodyPr/>
                    <a:lstStyle/>
                    <a:p>
                      <a:pPr algn="r"/>
                      <a:r>
                        <a:rPr sz="1050" b="0">
                          <a:solidFill>
                            <a:srgbClr val="5B6670"/>
                          </a:solidFill>
                        </a:rPr>
                        <a:t>amber</a:t>
                      </a:r>
                    </a:p>
                  </a:txBody>
                  <a:tcPr marL="54864" marR="54864" marT="18288" marB="18288"/>
                </a:tc>
              </a:tr>
            </a:tbl>
          </a:graphicData>
        </a:graphic>
      </p:graphicFrame>
      <p:sp>
        <p:nvSpPr>
          <p:cNvPr id="6" name="TextBox 5"/>
          <p:cNvSpPr txBox="1"/>
          <p:nvPr/>
        </p:nvSpPr>
        <p:spPr>
          <a:xfrm>
            <a:off x="566928" y="4480560"/>
            <a:ext cx="11057839" cy="1828800"/>
          </a:xfrm>
          <a:prstGeom prst="rect">
            <a:avLst/>
          </a:prstGeom>
          <a:noFill/>
        </p:spPr>
        <p:txBody>
          <a:bodyPr wrap="square">
            <a:spAutoFit/>
          </a:bodyPr>
          <a:lstStyle/>
          <a:p>
            <a:pPr>
              <a:spcAft>
                <a:spcPts val="400"/>
              </a:spcAft>
            </a:pPr>
            <a:r>
              <a:rPr sz="1050" b="1">
                <a:solidFill>
                  <a:srgbClr val="5B6670"/>
                </a:solidFill>
              </a:rPr>
              <a:t>Cause</a:t>
            </a:r>
          </a:p>
          <a:p>
            <a:pPr>
              <a:spcAft>
                <a:spcPts val="400"/>
              </a:spcAft>
            </a:pPr>
            <a:r>
              <a:rPr sz="1300" b="0">
                <a:solidFill>
                  <a:srgbClr val="1F252B"/>
                </a:solidFill>
              </a:rPr>
              <a:t>Not determinable from available data. Burn is 56.2% and the run rate is 17.8% above this engagement's own baseline of 94.00 hours per week, with 228 contract days remaining.</a:t>
            </a:r>
          </a:p>
          <a:p>
            <a:pPr>
              <a:spcAft>
                <a:spcPts val="400"/>
              </a:spcAft>
            </a:pPr>
            <a:r>
              <a:rPr sz="1050" b="1">
                <a:solidFill>
                  <a:srgbClr val="5B6670"/>
                </a:solidFill>
              </a:rPr>
              <a:t>Recommended action</a:t>
            </a:r>
          </a:p>
          <a:p>
            <a:pPr>
              <a:spcAft>
                <a:spcPts val="400"/>
              </a:spcAft>
            </a:pPr>
            <a:r>
              <a:rPr sz="1300" b="0">
                <a:solidFill>
                  <a:srgbClr val="1F252B"/>
                </a:solidFill>
              </a:rPr>
              <a:t>Engagement lead to decide, with Quarrymoor Transit Partners, whether the current run rate of 110.78 hours per week is the delivery plan for the remaining 228 contract days or an overrun in progress. Projected total is 6,328.8 hours against a 4,840.0 hour ceiling.</a:t>
            </a:r>
          </a:p>
          <a:p>
            <a:pPr>
              <a:spcAft>
                <a:spcPts val="400"/>
              </a:spcAft>
            </a:pPr>
            <a:r>
              <a:rPr sz="1050" b="0">
                <a:solidFill>
                  <a:srgbClr val="5B6670"/>
                </a:solidFill>
              </a:rPr>
              <a:t>Decision owner: engagement lead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57839" cy="731520"/>
          </a:xfrm>
          <a:prstGeom prst="rect">
            <a:avLst/>
          </a:prstGeom>
          <a:noFill/>
        </p:spPr>
        <p:txBody>
          <a:bodyPr wrap="square">
            <a:spAutoFit/>
          </a:bodyPr>
          <a:lstStyle/>
          <a:p>
            <a:pPr>
              <a:spcAft>
                <a:spcPts val="400"/>
              </a:spcAft>
            </a:pPr>
            <a:r>
              <a:rPr sz="2200" b="1">
                <a:solidFill>
                  <a:srgbClr val="1F252B"/>
                </a:solidFill>
              </a:rPr>
              <a:t>Data quality and caveats</a:t>
            </a:r>
          </a:p>
          <a:p>
            <a:pPr>
              <a:spcAft>
                <a:spcPts val="400"/>
              </a:spcAft>
            </a:pPr>
            <a:r>
              <a:rPr sz="1050" b="0">
                <a:solidFill>
                  <a:srgbClr val="5B6670"/>
                </a:solidFill>
              </a:rPr>
              <a:t>2026-08, across the whole firm</a:t>
            </a:r>
          </a:p>
        </p:txBody>
      </p:sp>
      <p:sp>
        <p:nvSpPr>
          <p:cNvPr id="3" name="Rectangle 2"/>
          <p:cNvSpPr/>
          <p:nvPr/>
        </p:nvSpPr>
        <p:spPr>
          <a:xfrm>
            <a:off x="566928" y="1298448"/>
            <a:ext cx="11057839" cy="9525"/>
          </a:xfrm>
          <a:prstGeom prst="rect">
            <a:avLst/>
          </a:prstGeom>
          <a:solidFill>
            <a:srgbClr val="D5D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572768"/>
          <a:ext cx="11057838" cy="1463040"/>
        </p:xfrm>
        <a:graphic>
          <a:graphicData uri="http://schemas.openxmlformats.org/drawingml/2006/table">
            <a:tbl>
              <a:tblPr firstRow="1" bandRow="1">
                <a:tableStyleId>{5C22544A-7EE6-4342-B048-85BDC9FD1C3A}</a:tableStyleId>
              </a:tblPr>
              <a:tblGrid>
                <a:gridCol w="7740487"/>
                <a:gridCol w="3317351"/>
              </a:tblGrid>
              <a:tr h="292608">
                <a:tc>
                  <a:txBody>
                    <a:bodyPr/>
                    <a:lstStyle/>
                    <a:p>
                      <a:pPr algn="l"/>
                      <a:r>
                        <a:rPr sz="1050" b="1">
                          <a:solidFill>
                            <a:srgbClr val="1F252B"/>
                          </a:solidFill>
                        </a:rPr>
                        <a:t>Record quality</a:t>
                      </a:r>
                    </a:p>
                  </a:txBody>
                  <a:tcPr marL="54864" marR="54864" marT="18288" marB="18288"/>
                </a:tc>
                <a:tc>
                  <a:txBody>
                    <a:bodyPr/>
                    <a:lstStyle/>
                    <a:p>
                      <a:pPr algn="l"/>
                      <a:r>
                        <a:rPr sz="1050" b="1">
                          <a:solidFill>
                            <a:srgbClr val="1F252B"/>
                          </a:solidFill>
                        </a:rPr>
                        <a:t>Count</a:t>
                      </a:r>
                    </a:p>
                  </a:txBody>
                  <a:tcPr marL="54864" marR="54864" marT="18288" marB="18288"/>
                </a:tc>
              </a:tr>
              <a:tr h="292608">
                <a:tc>
                  <a:txBody>
                    <a:bodyPr/>
                    <a:lstStyle/>
                    <a:p>
                      <a:pPr algn="l"/>
                      <a:r>
                        <a:rPr sz="1050" b="0">
                          <a:solidFill>
                            <a:srgbClr val="5B6670"/>
                          </a:solidFill>
                        </a:rPr>
                        <a:t>Time entries in the period</a:t>
                      </a:r>
                    </a:p>
                  </a:txBody>
                  <a:tcPr marL="54864" marR="54864" marT="18288" marB="18288"/>
                </a:tc>
                <a:tc>
                  <a:txBody>
                    <a:bodyPr/>
                    <a:lstStyle/>
                    <a:p>
                      <a:pPr algn="r"/>
                      <a:r>
                        <a:rPr sz="1050" b="0">
                          <a:solidFill>
                            <a:srgbClr val="5B6670"/>
                          </a:solidFill>
                        </a:rPr>
                        <a:t>2,774</a:t>
                      </a:r>
                    </a:p>
                  </a:txBody>
                  <a:tcPr marL="54864" marR="54864" marT="18288" marB="18288"/>
                </a:tc>
              </a:tr>
              <a:tr h="292608">
                <a:tc>
                  <a:txBody>
                    <a:bodyPr/>
                    <a:lstStyle/>
                    <a:p>
                      <a:pPr algn="l"/>
                      <a:r>
                        <a:rPr sz="1050" b="0">
                          <a:solidFill>
                            <a:srgbClr val="5B6670"/>
                          </a:solidFill>
                        </a:rPr>
                        <a:t>Filed after the period closed</a:t>
                      </a:r>
                    </a:p>
                  </a:txBody>
                  <a:tcPr marL="54864" marR="54864" marT="18288" marB="18288"/>
                </a:tc>
                <a:tc>
                  <a:txBody>
                    <a:bodyPr/>
                    <a:lstStyle/>
                    <a:p>
                      <a:pPr algn="r"/>
                      <a:r>
                        <a:rPr sz="1050" b="0">
                          <a:solidFill>
                            <a:srgbClr val="5B6670"/>
                          </a:solidFill>
                        </a:rPr>
                        <a:t>160  (5.8%)</a:t>
                      </a:r>
                    </a:p>
                  </a:txBody>
                  <a:tcPr marL="54864" marR="54864" marT="18288" marB="18288"/>
                </a:tc>
              </a:tr>
              <a:tr h="292608">
                <a:tc>
                  <a:txBody>
                    <a:bodyPr/>
                    <a:lstStyle/>
                    <a:p>
                      <a:pPr algn="l"/>
                      <a:r>
                        <a:rPr sz="1050" b="0">
                          <a:solidFill>
                            <a:srgbClr val="5B6670"/>
                          </a:solidFill>
                        </a:rPr>
                        <a:t>No billable flag set</a:t>
                      </a:r>
                    </a:p>
                  </a:txBody>
                  <a:tcPr marL="54864" marR="54864" marT="18288" marB="18288"/>
                </a:tc>
                <a:tc>
                  <a:txBody>
                    <a:bodyPr/>
                    <a:lstStyle/>
                    <a:p>
                      <a:pPr algn="r"/>
                      <a:r>
                        <a:rPr sz="1050" b="0">
                          <a:solidFill>
                            <a:srgbClr val="5B6670"/>
                          </a:solidFill>
                        </a:rPr>
                        <a:t>2</a:t>
                      </a:r>
                    </a:p>
                  </a:txBody>
                  <a:tcPr marL="54864" marR="54864" marT="18288" marB="18288"/>
                </a:tc>
              </a:tr>
              <a:tr h="292608">
                <a:tc>
                  <a:txBody>
                    <a:bodyPr/>
                    <a:lstStyle/>
                    <a:p>
                      <a:pPr algn="l"/>
                      <a:r>
                        <a:rPr sz="1050" b="0">
                          <a:solidFill>
                            <a:srgbClr val="5B6670"/>
                          </a:solidFill>
                        </a:rPr>
                        <a:t>Redundant rows: same person, engagement, day and hours</a:t>
                      </a:r>
                    </a:p>
                  </a:txBody>
                  <a:tcPr marL="54864" marR="54864" marT="18288" marB="18288"/>
                </a:tc>
                <a:tc>
                  <a:txBody>
                    <a:bodyPr/>
                    <a:lstStyle/>
                    <a:p>
                      <a:pPr algn="r"/>
                      <a:r>
                        <a:rPr sz="1050" b="0">
                          <a:solidFill>
                            <a:srgbClr val="5B6670"/>
                          </a:solidFill>
                        </a:rPr>
                        <a:t>1</a:t>
                      </a:r>
                    </a:p>
                  </a:txBody>
                  <a:tcPr marL="54864" marR="54864" marT="18288" marB="18288"/>
                </a:tc>
              </a:tr>
            </a:tbl>
          </a:graphicData>
        </a:graphic>
      </p:graphicFrame>
      <p:sp>
        <p:nvSpPr>
          <p:cNvPr id="5" name="TextBox 4"/>
          <p:cNvSpPr txBox="1"/>
          <p:nvPr/>
        </p:nvSpPr>
        <p:spPr>
          <a:xfrm>
            <a:off x="566928" y="3246120"/>
            <a:ext cx="11057839" cy="2926080"/>
          </a:xfrm>
          <a:prstGeom prst="rect">
            <a:avLst/>
          </a:prstGeom>
          <a:noFill/>
        </p:spPr>
        <p:txBody>
          <a:bodyPr wrap="square">
            <a:spAutoFit/>
          </a:bodyPr>
          <a:lstStyle/>
          <a:p>
            <a:pPr>
              <a:spcAft>
                <a:spcPts val="400"/>
              </a:spcAft>
            </a:pPr>
            <a:r>
              <a:rPr sz="1050" b="1">
                <a:solidFill>
                  <a:srgbClr val="5B6670"/>
                </a:solidFill>
              </a:rPr>
              <a:t>Reporting coverage</a:t>
            </a:r>
          </a:p>
          <a:p>
            <a:pPr>
              <a:spcAft>
                <a:spcPts val="400"/>
              </a:spcAft>
            </a:pPr>
            <a:r>
              <a:rPr sz="1300" b="0">
                <a:solidFill>
                  <a:srgbClr val="1F252B"/>
                </a:solidFill>
              </a:rPr>
              <a:t>Week of 2026-08-10: 16.7% of active engagements filed time, below the 60% coverage floor. This week is a filing artifact. It is excluded from every run rate and projection in this pack, and delivery for the week cannot be measured from the data.</a:t>
            </a:r>
          </a:p>
          <a:p>
            <a:pPr>
              <a:spcAft>
                <a:spcPts val="400"/>
              </a:spcAft>
            </a:pPr>
            <a:r>
              <a:rPr sz="1050" b="1">
                <a:solidFill>
                  <a:srgbClr val="5B6670"/>
                </a:solidFill>
              </a:rPr>
              <a:t>Projections reported with low confidence</a:t>
            </a:r>
          </a:p>
          <a:p>
            <a:pPr>
              <a:spcAft>
                <a:spcPts val="400"/>
              </a:spcAft>
            </a:pPr>
            <a:r>
              <a:rPr sz="1200" b="0">
                <a:solidFill>
                  <a:srgbClr val="1F252B"/>
                </a:solidFill>
              </a:rPr>
              <a:t>Engagement 25: 2 of the trailing 4 readable weeks have no time logged against this engagement</a:t>
            </a:r>
          </a:p>
          <a:p>
            <a:pPr>
              <a:spcAft>
                <a:spcPts val="400"/>
              </a:spcAft>
            </a:pPr>
            <a:r>
              <a:rPr sz="1050" b="0">
                <a:solidFill>
                  <a:srgbClr val="5B6670"/>
                </a:solidFill>
              </a:rPr>
              <a:t>Figures come from the BizData tools and are reproduced in engagement-book-2026-08.xlsx. Scoring model v1.0.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